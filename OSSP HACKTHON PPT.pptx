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433D6D2-0C72-523B-04E1-5289F6FF5ABE}">
          <p14:sldIdLst>
            <p14:sldId id="256"/>
            <p14:sldId id="257"/>
            <p14:sldId id="258"/>
          </p14:sldIdLst>
        </p14:section>
        <p14:section name="Design" id="{6EE655E2-3084-26E4-DF63-7FA7AB2FBC11}">
          <p14:sldIdLst>
            <p14:sldId id="259"/>
            <p14:sldId id="260"/>
            <p14:sldId id="261"/>
            <p14:sldId id="262"/>
          </p14:sldIdLst>
        </p14:section>
        <p14:section name="Evaluation" id="{786397C2-DA2E-B387-96C3-887852F9C069}">
          <p14:sldIdLst>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55240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project. One line: our system lets two processes exchange data through shared memory, with semaphores keeping the data consistent. Replace the team name placeholder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from the basics: processes are isolated, so they need an IPC mechanism. Shared memory is fast to use, but if two processes touch the same data without coordination you get race conditions. Read the core problem aloud.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objectives quickly. Emphasise objective 3 and 4: synchronization is what makes the exchange safe.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processes access one common mapped memory region; nothing is sent over a network or through a file. The shared region holds the message buffer, a sequence number, a completion flag and the two semaphores. The prototype has one slot and one producer-consumer pair.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Shared memory itself only gives a common region; semaphores provide the coordination. mmap() maps the shared memory object into each process address space, and fork() creates the child that acts as consumer.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1 to 4 set up the shared region and semaphores before fork(). After fork(), the parent is the producer and the child is the consumer. Each side follows the simple wait / operate / post pattern shown on the right.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shared memory alone does not give consistency; synchronization does. empty starts at 1 so the producer can write first; full starts at 0 so the consumer blocks until a message exists. The cycle repeats for every message.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claim these tests passed until they have been run. Run the program live or paste a real terminal screenshot into the placeholder, then change each PENDING chip to a green check (15803D) only for tests you actually confirmed.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limitations: the current prototype is single-slot, one producer, one consumer. Future work lists what would be needed to scale it. We have not measured performance, so we do not claim speed-ups.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the one-sentence takeaway: shared memory gives fast data sharing, semaphores give consistency. Invite questions. Replace team and GitHub placeholders.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rtlCol="0"/>
          <a:lstStyle>
            <a:lvl1pPr marL="0" indent="0" algn="l">
              <a:buNone/>
              <a:defRPr lang="en-US" sz="3200" b="1" dirty="0">
                <a:solidFill>
                  <a:schemeClr val="accent1"/>
                </a:solidFill>
              </a:defRPr>
            </a:lvl1pPr>
          </a:lstStyle>
          <a:p>
            <a:pPr marL="0" indent="0" algn="l">
              <a:buNone/>
            </a:pPr>
            <a:endParaRPr lang="en-US" sz="32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marL="0" indent="0">
              <a:buNone/>
            </a:pPr>
            <a:r>
              <a:rPr lang="en-US" sz="1100" dirty="0">
                <a:solidFill>
                  <a:schemeClr val="tx2"/>
                </a:solidFill>
              </a:rPr>
              <a:t>Shared Memory Based Data Exchange System  |  Hackathon Evaluation</a:t>
            </a:r>
            <a:endParaRPr lang="en-US" sz="1100" dirty="0"/>
          </a:p>
        </p:txBody>
      </p:sp>
      <p:sp>
        <p:nvSpPr>
          <p:cNvPr id="25" name="Slide Number Placeholder 0"/>
          <p:cNvSpPr>
            <a:spLocks noGrp="1"/>
          </p:cNvSpPr>
          <p:nvPr>
            <p:ph type="sldNum" sz="quarter" idx="4294967295"/>
          </p:nvPr>
        </p:nvSpPr>
        <p:spPr>
          <a:xfrm>
            <a:off x="10881360" y="6419088"/>
            <a:ext cx="75895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chemeClr val="bg2"/>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419088"/>
            <a:ext cx="75895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822960"/>
            <a:ext cx="6766560" cy="1828800"/>
          </a:xfrm>
          <a:prstGeom prst="rect">
            <a:avLst/>
          </a:prstGeom>
          <a:noFill/>
          <a:ln/>
        </p:spPr>
        <p:txBody>
          <a:bodyPr wrap="square" lIns="0" tIns="0" rIns="0" bIns="0" rtlCol="0" anchor="t"/>
          <a:lstStyle/>
          <a:p>
            <a:pPr marL="0" indent="0">
              <a:buNone/>
            </a:pPr>
            <a:r>
              <a:rPr lang="en-US" sz="4200" b="1" dirty="0">
                <a:solidFill>
                  <a:schemeClr val="tx1"/>
                </a:solidFill>
              </a:rPr>
              <a:t>Shared Memory Based</a:t>
            </a:r>
            <a:endParaRPr lang="en-US" sz="4200" dirty="0"/>
          </a:p>
          <a:p>
            <a:pPr marL="0" indent="0">
              <a:buNone/>
            </a:pPr>
            <a:r>
              <a:rPr lang="en-US" sz="4200" b="1" dirty="0">
                <a:solidFill>
                  <a:schemeClr val="tx1"/>
                </a:solidFill>
              </a:rPr>
              <a:t>Data Exchange System</a:t>
            </a:r>
            <a:endParaRPr lang="en-US" sz="4200" dirty="0"/>
          </a:p>
        </p:txBody>
      </p:sp>
      <p:sp>
        <p:nvSpPr>
          <p:cNvPr id="3" name="Title accent line"/>
          <p:cNvSpPr/>
          <p:nvPr/>
        </p:nvSpPr>
        <p:spPr>
          <a:xfrm>
            <a:off x="731520" y="2788920"/>
            <a:ext cx="1463040" cy="64008"/>
          </a:xfrm>
          <a:prstGeom prst="rect">
            <a:avLst/>
          </a:prstGeom>
          <a:solidFill>
            <a:schemeClr val="accent1"/>
          </a:solidFill>
          <a:ln w="12700">
            <a:solidFill>
              <a:schemeClr val="accent1"/>
            </a:solidFill>
            <a:prstDash val="solid"/>
          </a:ln>
        </p:spPr>
      </p:sp>
      <p:sp>
        <p:nvSpPr>
          <p:cNvPr id="4" name="Text 2"/>
          <p:cNvSpPr txBox="1"/>
          <p:nvPr/>
        </p:nvSpPr>
        <p:spPr>
          <a:xfrm>
            <a:off x="731520" y="3017520"/>
            <a:ext cx="6583680" cy="822960"/>
          </a:xfrm>
          <a:prstGeom prst="rect">
            <a:avLst/>
          </a:prstGeom>
          <a:noFill/>
          <a:ln/>
        </p:spPr>
        <p:txBody>
          <a:bodyPr wrap="square" lIns="0" tIns="0" rIns="0" bIns="0" rtlCol="0" anchor="t"/>
          <a:lstStyle/>
          <a:p>
            <a:pPr marL="0" indent="0">
              <a:buNone/>
            </a:pPr>
            <a:r>
              <a:rPr lang="en-US" sz="2200" dirty="0">
                <a:solidFill>
                  <a:schemeClr val="tx2"/>
                </a:solidFill>
              </a:rPr>
              <a:t>Efficient Inter-Process Communication with Data Consistency</a:t>
            </a:r>
            <a:endParaRPr lang="en-US" sz="2200" dirty="0"/>
          </a:p>
        </p:txBody>
      </p:sp>
      <p:sp>
        <p:nvSpPr>
          <p:cNvPr id="5" name="Illustration card"/>
          <p:cNvSpPr/>
          <p:nvPr/>
        </p:nvSpPr>
        <p:spPr>
          <a:xfrm>
            <a:off x="7863840" y="822960"/>
            <a:ext cx="3749040" cy="3017520"/>
          </a:xfrm>
          <a:prstGeom prst="roundRect">
            <a:avLst>
              <a:gd name="adj" fmla="val 3030"/>
            </a:avLst>
          </a:prstGeom>
          <a:solidFill>
            <a:schemeClr val="bg1"/>
          </a:solidFill>
          <a:ln w="9525">
            <a:solidFill>
              <a:srgbClr val="D1D5DB"/>
            </a:solidFill>
            <a:prstDash val="solid"/>
          </a:ln>
          <a:effectLst>
            <a:outerShdw blurRad="76200" dist="25400" dir="5400000" algn="bl" rotWithShape="0">
              <a:srgbClr val="000000">
                <a:alpha val="10000"/>
              </a:srgbClr>
            </a:outerShdw>
          </a:effectLst>
        </p:spPr>
      </p:sp>
      <p:sp>
        <p:nvSpPr>
          <p:cNvPr id="6" name="Chip"/>
          <p:cNvSpPr/>
          <p:nvPr/>
        </p:nvSpPr>
        <p:spPr>
          <a:xfrm>
            <a:off x="8046720" y="1097280"/>
            <a:ext cx="1554480" cy="640080"/>
          </a:xfrm>
          <a:prstGeom prst="roundRect">
            <a:avLst>
              <a:gd name="adj" fmla="val 11429"/>
            </a:avLst>
          </a:prstGeom>
          <a:solidFill>
            <a:schemeClr val="bg1"/>
          </a:solidFill>
          <a:ln w="12700">
            <a:solidFill>
              <a:srgbClr val="D1D5DB"/>
            </a:solidFill>
            <a:prstDash val="solid"/>
          </a:ln>
        </p:spPr>
      </p:sp>
      <p:sp>
        <p:nvSpPr>
          <p:cNvPr id="7" name="Text 5"/>
          <p:cNvSpPr txBox="1"/>
          <p:nvPr/>
        </p:nvSpPr>
        <p:spPr>
          <a:xfrm>
            <a:off x="8046720" y="1097280"/>
            <a:ext cx="1554480" cy="640080"/>
          </a:xfrm>
          <a:prstGeom prst="rect">
            <a:avLst/>
          </a:prstGeom>
          <a:noFill/>
          <a:ln/>
        </p:spPr>
        <p:txBody>
          <a:bodyPr wrap="square" lIns="25400" tIns="25400" rIns="25400" bIns="25400" rtlCol="0" anchor="ctr"/>
          <a:lstStyle/>
          <a:p>
            <a:pPr marL="0" indent="0" algn="ctr">
              <a:buNone/>
            </a:pPr>
            <a:r>
              <a:rPr lang="en-US" sz="1400" b="1" dirty="0">
                <a:solidFill>
                  <a:schemeClr val="tx1"/>
                </a:solidFill>
              </a:rPr>
              <a:t>Process A</a:t>
            </a:r>
            <a:endParaRPr lang="en-US" sz="1400" dirty="0"/>
          </a:p>
        </p:txBody>
      </p:sp>
      <p:sp>
        <p:nvSpPr>
          <p:cNvPr id="8" name="Chip"/>
          <p:cNvSpPr/>
          <p:nvPr/>
        </p:nvSpPr>
        <p:spPr>
          <a:xfrm>
            <a:off x="9966960" y="1097280"/>
            <a:ext cx="1554480" cy="640080"/>
          </a:xfrm>
          <a:prstGeom prst="roundRect">
            <a:avLst>
              <a:gd name="adj" fmla="val 11429"/>
            </a:avLst>
          </a:prstGeom>
          <a:solidFill>
            <a:schemeClr val="bg1"/>
          </a:solidFill>
          <a:ln w="12700">
            <a:solidFill>
              <a:srgbClr val="D1D5DB"/>
            </a:solidFill>
            <a:prstDash val="solid"/>
          </a:ln>
        </p:spPr>
      </p:sp>
      <p:sp>
        <p:nvSpPr>
          <p:cNvPr id="9" name="Text 7"/>
          <p:cNvSpPr txBox="1"/>
          <p:nvPr/>
        </p:nvSpPr>
        <p:spPr>
          <a:xfrm>
            <a:off x="9966960" y="1097280"/>
            <a:ext cx="1554480" cy="640080"/>
          </a:xfrm>
          <a:prstGeom prst="rect">
            <a:avLst/>
          </a:prstGeom>
          <a:noFill/>
          <a:ln/>
        </p:spPr>
        <p:txBody>
          <a:bodyPr wrap="square" lIns="25400" tIns="25400" rIns="25400" bIns="25400" rtlCol="0" anchor="ctr"/>
          <a:lstStyle/>
          <a:p>
            <a:pPr marL="0" indent="0" algn="ctr">
              <a:buNone/>
            </a:pPr>
            <a:r>
              <a:rPr lang="en-US" sz="1400" b="1" dirty="0">
                <a:solidFill>
                  <a:schemeClr val="tx1"/>
                </a:solidFill>
              </a:rPr>
              <a:t>Process B</a:t>
            </a:r>
            <a:endParaRPr lang="en-US" sz="1400" dirty="0"/>
          </a:p>
        </p:txBody>
      </p:sp>
      <p:sp>
        <p:nvSpPr>
          <p:cNvPr id="10" name="Arrow"/>
          <p:cNvSpPr/>
          <p:nvPr/>
        </p:nvSpPr>
        <p:spPr>
          <a:xfrm>
            <a:off x="8823960" y="1737360"/>
            <a:ext cx="0" cy="502920"/>
          </a:xfrm>
          <a:prstGeom prst="line">
            <a:avLst/>
          </a:prstGeom>
          <a:noFill/>
          <a:ln w="28575">
            <a:solidFill>
              <a:schemeClr val="accent1"/>
            </a:solidFill>
            <a:prstDash val="solid"/>
            <a:headEnd type="triangle"/>
            <a:tailEnd type="triangle"/>
          </a:ln>
        </p:spPr>
      </p:sp>
      <p:sp>
        <p:nvSpPr>
          <p:cNvPr id="11" name="Arrow"/>
          <p:cNvSpPr/>
          <p:nvPr/>
        </p:nvSpPr>
        <p:spPr>
          <a:xfrm>
            <a:off x="10744200" y="1737360"/>
            <a:ext cx="0" cy="502920"/>
          </a:xfrm>
          <a:prstGeom prst="line">
            <a:avLst/>
          </a:prstGeom>
          <a:noFill/>
          <a:ln w="28575">
            <a:solidFill>
              <a:schemeClr val="accent1"/>
            </a:solidFill>
            <a:prstDash val="solid"/>
            <a:headEnd type="triangle"/>
            <a:tailEnd type="triangle"/>
          </a:ln>
        </p:spPr>
      </p:sp>
      <p:sp>
        <p:nvSpPr>
          <p:cNvPr id="12" name="Shared memory panel"/>
          <p:cNvSpPr/>
          <p:nvPr/>
        </p:nvSpPr>
        <p:spPr>
          <a:xfrm>
            <a:off x="8046720" y="2240280"/>
            <a:ext cx="3474720" cy="914400"/>
          </a:xfrm>
          <a:prstGeom prst="roundRect">
            <a:avLst>
              <a:gd name="adj" fmla="val 10000"/>
            </a:avLst>
          </a:prstGeom>
          <a:solidFill>
            <a:schemeClr val="accent2"/>
          </a:solidFill>
          <a:ln w="15875">
            <a:solidFill>
              <a:schemeClr val="accent1"/>
            </a:solidFill>
            <a:prstDash val="solid"/>
          </a:ln>
        </p:spPr>
      </p:sp>
      <p:sp>
        <p:nvSpPr>
          <p:cNvPr id="13" name="Text 11"/>
          <p:cNvSpPr txBox="1"/>
          <p:nvPr/>
        </p:nvSpPr>
        <p:spPr>
          <a:xfrm>
            <a:off x="8046720" y="2240280"/>
            <a:ext cx="3474720" cy="914400"/>
          </a:xfrm>
          <a:prstGeom prst="rect">
            <a:avLst/>
          </a:prstGeom>
          <a:noFill/>
          <a:ln/>
        </p:spPr>
        <p:txBody>
          <a:bodyPr wrap="square" lIns="0" tIns="0" rIns="0" bIns="0" rtlCol="0" anchor="ctr"/>
          <a:lstStyle/>
          <a:p>
            <a:pPr marL="0" indent="0" algn="ctr">
              <a:buNone/>
            </a:pPr>
            <a:r>
              <a:rPr lang="en-US" sz="1600" b="1" dirty="0">
                <a:solidFill>
                  <a:schemeClr val="accent1"/>
                </a:solidFill>
              </a:rPr>
              <a:t>Shared Memory Region</a:t>
            </a:r>
            <a:endParaRPr lang="en-US" sz="1600" dirty="0"/>
          </a:p>
        </p:txBody>
      </p:sp>
      <p:sp>
        <p:nvSpPr>
          <p:cNvPr id="14" name="Text 12"/>
          <p:cNvSpPr txBox="1"/>
          <p:nvPr/>
        </p:nvSpPr>
        <p:spPr>
          <a:xfrm>
            <a:off x="7863840" y="3337560"/>
            <a:ext cx="3749040" cy="320040"/>
          </a:xfrm>
          <a:prstGeom prst="rect">
            <a:avLst/>
          </a:prstGeom>
          <a:noFill/>
          <a:ln/>
        </p:spPr>
        <p:txBody>
          <a:bodyPr wrap="square" lIns="0" tIns="0" rIns="0" bIns="0" rtlCol="0" anchor="ctr"/>
          <a:lstStyle/>
          <a:p>
            <a:pPr marL="0" indent="0" algn="ctr">
              <a:buNone/>
            </a:pPr>
            <a:r>
              <a:rPr lang="en-US" sz="1200" dirty="0">
                <a:solidFill>
                  <a:schemeClr val="tx2"/>
                </a:solidFill>
              </a:rPr>
              <a:t>Producer  ⇄  Shared Memory  ⇄  Consumer</a:t>
            </a:r>
            <a:endParaRPr lang="en-US" sz="1200" dirty="0"/>
          </a:p>
        </p:txBody>
      </p:sp>
      <p:sp>
        <p:nvSpPr>
          <p:cNvPr id="15" name="Team card"/>
          <p:cNvSpPr/>
          <p:nvPr/>
        </p:nvSpPr>
        <p:spPr>
          <a:xfrm>
            <a:off x="731520" y="4251960"/>
            <a:ext cx="10881360" cy="1920240"/>
          </a:xfrm>
          <a:prstGeom prst="roundRect">
            <a:avLst>
              <a:gd name="adj" fmla="val 4762"/>
            </a:avLst>
          </a:prstGeom>
          <a:solidFill>
            <a:schemeClr val="bg1"/>
          </a:solidFill>
          <a:ln w="9525">
            <a:solidFill>
              <a:srgbClr val="D1D5DB"/>
            </a:solidFill>
            <a:prstDash val="solid"/>
          </a:ln>
          <a:effectLst>
            <a:outerShdw blurRad="76200" dist="25400" dir="5400000" algn="bl" rotWithShape="0">
              <a:srgbClr val="000000">
                <a:alpha val="10000"/>
              </a:srgbClr>
            </a:outerShdw>
          </a:effectLst>
        </p:spPr>
      </p:sp>
      <p:sp>
        <p:nvSpPr>
          <p:cNvPr id="16" name="Text 14"/>
          <p:cNvSpPr txBox="1"/>
          <p:nvPr/>
        </p:nvSpPr>
        <p:spPr>
          <a:xfrm>
            <a:off x="1005840" y="4206240"/>
            <a:ext cx="4846320" cy="1828800"/>
          </a:xfrm>
          <a:prstGeom prst="rect">
            <a:avLst/>
          </a:prstGeom>
          <a:noFill/>
          <a:ln/>
        </p:spPr>
        <p:txBody>
          <a:bodyPr wrap="square" lIns="0" tIns="0" rIns="0" bIns="0" rtlCol="0" anchor="ctr"/>
          <a:lstStyle/>
          <a:p>
            <a:pPr marL="0" indent="0">
              <a:spcAft>
                <a:spcPts val="800"/>
              </a:spcAft>
              <a:buNone/>
            </a:pPr>
            <a:endParaRPr lang="en-US" sz="1800" dirty="0"/>
          </a:p>
          <a:p>
            <a:pPr marL="0" indent="0">
              <a:spcAft>
                <a:spcPts val="800"/>
              </a:spcAft>
              <a:buNone/>
            </a:pPr>
            <a:r>
              <a:rPr lang="en-US" sz="1800" b="1" dirty="0">
                <a:solidFill>
                  <a:schemeClr val="accent1"/>
                </a:solidFill>
              </a:rPr>
              <a:t>Team No</a:t>
            </a:r>
            <a:r>
              <a:rPr lang="en-US" b="1" dirty="0">
                <a:solidFill>
                  <a:schemeClr val="accent1"/>
                </a:solidFill>
              </a:rPr>
              <a:t>:</a:t>
            </a:r>
            <a:r>
              <a:rPr lang="en-US" sz="1800" b="1" dirty="0">
                <a:solidFill>
                  <a:schemeClr val="accent1"/>
                </a:solidFill>
              </a:rPr>
              <a:t> </a:t>
            </a:r>
            <a:r>
              <a:rPr lang="en-US" sz="1800" dirty="0">
                <a:solidFill>
                  <a:schemeClr val="tx1"/>
                </a:solidFill>
              </a:rPr>
              <a:t>11</a:t>
            </a:r>
            <a:endParaRPr lang="en-US" sz="1800" dirty="0"/>
          </a:p>
          <a:p>
            <a:pPr marL="0" indent="0">
              <a:spcAft>
                <a:spcPts val="800"/>
              </a:spcAft>
              <a:buNone/>
            </a:pPr>
            <a:r>
              <a:rPr lang="en-US" sz="1800" b="1" dirty="0">
                <a:solidFill>
                  <a:schemeClr val="accent1"/>
                </a:solidFill>
              </a:rPr>
              <a:t>Section: </a:t>
            </a:r>
            <a:r>
              <a:rPr lang="en-US" sz="1800" dirty="0">
                <a:solidFill>
                  <a:schemeClr val="tx1"/>
                </a:solidFill>
              </a:rPr>
              <a:t>1</a:t>
            </a:r>
            <a:endParaRPr lang="en-US" sz="1800" dirty="0"/>
          </a:p>
        </p:txBody>
      </p:sp>
      <p:sp>
        <p:nvSpPr>
          <p:cNvPr id="17" name="Text 15"/>
          <p:cNvSpPr txBox="1"/>
          <p:nvPr/>
        </p:nvSpPr>
        <p:spPr>
          <a:xfrm>
            <a:off x="6309360" y="4389120"/>
            <a:ext cx="5120640" cy="1645920"/>
          </a:xfrm>
          <a:prstGeom prst="rect">
            <a:avLst/>
          </a:prstGeom>
          <a:noFill/>
          <a:ln/>
        </p:spPr>
        <p:txBody>
          <a:bodyPr wrap="square" lIns="0" tIns="0" rIns="0" bIns="0" rtlCol="0" anchor="ctr"/>
          <a:lstStyle/>
          <a:p>
            <a:pPr marL="0" indent="0">
              <a:spcAft>
                <a:spcPts val="800"/>
              </a:spcAft>
              <a:buNone/>
            </a:pPr>
            <a:r>
              <a:rPr lang="en-US" sz="1800" b="1" dirty="0">
                <a:solidFill>
                  <a:schemeClr val="accent1"/>
                </a:solidFill>
              </a:rPr>
              <a:t>Team Members </a:t>
            </a:r>
            <a:r>
              <a:rPr lang="en-US" b="1" dirty="0">
                <a:solidFill>
                  <a:schemeClr val="accent1"/>
                </a:solidFill>
              </a:rPr>
              <a:t>:</a:t>
            </a:r>
            <a:endParaRPr lang="en-US" sz="1800" dirty="0"/>
          </a:p>
          <a:p>
            <a:pPr marL="0" indent="0">
              <a:spcAft>
                <a:spcPts val="800"/>
              </a:spcAft>
              <a:buNone/>
            </a:pPr>
            <a:r>
              <a:rPr lang="en-US" sz="1800" dirty="0">
                <a:solidFill>
                  <a:schemeClr val="tx1"/>
                </a:solidFill>
              </a:rPr>
              <a:t>M. Bala Pranitha  –  2520030051</a:t>
            </a:r>
            <a:endParaRPr lang="en-US" sz="1800" dirty="0"/>
          </a:p>
          <a:p>
            <a:pPr marL="0" indent="0">
              <a:spcAft>
                <a:spcPts val="800"/>
              </a:spcAft>
              <a:buNone/>
            </a:pPr>
            <a:r>
              <a:rPr lang="en-US" sz="1800" dirty="0">
                <a:solidFill>
                  <a:schemeClr val="tx1"/>
                </a:solidFill>
              </a:rPr>
              <a:t>S. Manvi Vaishanvi  –  2520030326</a:t>
            </a:r>
            <a:endParaRPr lang="en-US" sz="1800" dirty="0"/>
          </a:p>
          <a:p>
            <a:pPr marL="0" indent="0">
              <a:spcAft>
                <a:spcPts val="800"/>
              </a:spcAft>
              <a:buNone/>
            </a:pPr>
            <a:r>
              <a:rPr lang="en-US" sz="1800" dirty="0">
                <a:solidFill>
                  <a:schemeClr val="tx1"/>
                </a:solidFill>
              </a:rPr>
              <a:t>D. Rohini Tanmayi  –  25200300349</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lIns="0" tIns="0" rIns="0" bIns="0" rtlCol="0" anchor="ctr"/>
          <a:lstStyle/>
          <a:p>
            <a:pPr marL="0" indent="0" algn="l">
              <a:buNone/>
            </a:pPr>
            <a:r>
              <a:rPr lang="en-US" sz="3200" b="1" dirty="0">
                <a:solidFill>
                  <a:schemeClr val="accent1"/>
                </a:solidFill>
              </a:rPr>
              <a:t>Problem Statement</a:t>
            </a:r>
            <a:endParaRPr lang="en-US" sz="3200" dirty="0"/>
          </a:p>
        </p:txBody>
      </p:sp>
      <p:sp>
        <p:nvSpPr>
          <p:cNvPr id="3" name="Problem bullets card"/>
          <p:cNvSpPr/>
          <p:nvPr/>
        </p:nvSpPr>
        <p:spPr>
          <a:xfrm>
            <a:off x="548640" y="1280160"/>
            <a:ext cx="6309360" cy="3429000"/>
          </a:xfrm>
          <a:prstGeom prst="roundRect">
            <a:avLst>
              <a:gd name="adj" fmla="val 2667"/>
            </a:avLst>
          </a:prstGeom>
          <a:solidFill>
            <a:schemeClr val="bg1"/>
          </a:solidFill>
          <a:ln w="9525">
            <a:solidFill>
              <a:srgbClr val="D1D5DB"/>
            </a:solidFill>
            <a:prstDash val="solid"/>
          </a:ln>
          <a:effectLst>
            <a:outerShdw blurRad="76200" dist="25400" dir="5400000" algn="bl" rotWithShape="0">
              <a:srgbClr val="000000">
                <a:alpha val="10000"/>
              </a:srgbClr>
            </a:outerShdw>
          </a:effectLst>
        </p:spPr>
      </p:sp>
      <p:sp>
        <p:nvSpPr>
          <p:cNvPr id="4" name="Text 2"/>
          <p:cNvSpPr txBox="1"/>
          <p:nvPr/>
        </p:nvSpPr>
        <p:spPr>
          <a:xfrm>
            <a:off x="822960" y="1463040"/>
            <a:ext cx="5760720" cy="3063240"/>
          </a:xfrm>
          <a:prstGeom prst="rect">
            <a:avLst/>
          </a:prstGeom>
          <a:noFill/>
          <a:ln/>
        </p:spPr>
        <p:txBody>
          <a:bodyPr wrap="square" lIns="0" tIns="0" rIns="0" bIns="0" rtlCol="0" anchor="ctr"/>
          <a:lstStyle/>
          <a:p>
            <a:pPr marL="203200" indent="-203200">
              <a:spcAft>
                <a:spcPts val="600"/>
              </a:spcAft>
              <a:buSzPct val="100000"/>
              <a:buChar char="•"/>
            </a:pPr>
            <a:r>
              <a:rPr lang="en-US" sz="1800" dirty="0">
                <a:solidFill>
                  <a:schemeClr val="tx1"/>
                </a:solidFill>
              </a:rPr>
              <a:t>Multiple processes often need to exchange data efficiently.</a:t>
            </a:r>
            <a:endParaRPr lang="en-US" sz="1800" dirty="0"/>
          </a:p>
          <a:p>
            <a:pPr marL="203200" indent="-203200">
              <a:spcAft>
                <a:spcPts val="600"/>
              </a:spcAft>
              <a:buSzPct val="100000"/>
              <a:buChar char="•"/>
            </a:pPr>
            <a:r>
              <a:rPr lang="en-US" sz="1800" dirty="0">
                <a:solidFill>
                  <a:schemeClr val="tx1"/>
                </a:solidFill>
              </a:rPr>
              <a:t>Each process normally has its own memory address space.</a:t>
            </a:r>
            <a:endParaRPr lang="en-US" sz="1800" dirty="0"/>
          </a:p>
          <a:p>
            <a:pPr marL="203200" indent="-203200">
              <a:spcAft>
                <a:spcPts val="600"/>
              </a:spcAft>
              <a:buSzPct val="100000"/>
              <a:buChar char="•"/>
            </a:pPr>
            <a:r>
              <a:rPr lang="en-US" sz="1800" dirty="0">
                <a:solidFill>
                  <a:schemeClr val="tx1"/>
                </a:solidFill>
              </a:rPr>
              <a:t>Shared data accessed without coordination can cause race conditions and inconsistent results.</a:t>
            </a:r>
            <a:endParaRPr lang="en-US" sz="1800" dirty="0"/>
          </a:p>
          <a:p>
            <a:pPr marL="203200" indent="-203200">
              <a:spcAft>
                <a:spcPts val="600"/>
              </a:spcAft>
              <a:buSzPct val="100000"/>
              <a:buChar char="•"/>
            </a:pPr>
            <a:r>
              <a:rPr lang="en-US" sz="1800" dirty="0">
                <a:solidFill>
                  <a:schemeClr val="tx1"/>
                </a:solidFill>
              </a:rPr>
              <a:t>A reliable mechanism must coordinate reading and writing.</a:t>
            </a:r>
            <a:endParaRPr lang="en-US" sz="1800" dirty="0"/>
          </a:p>
        </p:txBody>
      </p:sp>
      <p:sp>
        <p:nvSpPr>
          <p:cNvPr id="5" name="Process illustration card"/>
          <p:cNvSpPr/>
          <p:nvPr/>
        </p:nvSpPr>
        <p:spPr>
          <a:xfrm>
            <a:off x="7132320" y="1280160"/>
            <a:ext cx="4480560" cy="3429000"/>
          </a:xfrm>
          <a:prstGeom prst="roundRect">
            <a:avLst>
              <a:gd name="adj" fmla="val 2667"/>
            </a:avLst>
          </a:prstGeom>
          <a:solidFill>
            <a:schemeClr val="bg1"/>
          </a:solidFill>
          <a:ln w="9525">
            <a:solidFill>
              <a:srgbClr val="D1D5DB"/>
            </a:solidFill>
            <a:prstDash val="solid"/>
          </a:ln>
          <a:effectLst>
            <a:outerShdw blurRad="76200" dist="25400" dir="5400000" algn="bl" rotWithShape="0">
              <a:srgbClr val="000000">
                <a:alpha val="10000"/>
              </a:srgbClr>
            </a:outerShdw>
          </a:effectLst>
        </p:spPr>
      </p:sp>
      <p:sp>
        <p:nvSpPr>
          <p:cNvPr id="6" name="Text 4"/>
          <p:cNvSpPr txBox="1"/>
          <p:nvPr/>
        </p:nvSpPr>
        <p:spPr>
          <a:xfrm>
            <a:off x="7132320" y="1371600"/>
            <a:ext cx="4480560" cy="365760"/>
          </a:xfrm>
          <a:prstGeom prst="rect">
            <a:avLst/>
          </a:prstGeom>
          <a:noFill/>
          <a:ln/>
        </p:spPr>
        <p:txBody>
          <a:bodyPr wrap="square" lIns="0" tIns="0" rIns="0" bIns="0" rtlCol="0" anchor="ctr"/>
          <a:lstStyle/>
          <a:p>
            <a:pPr marL="0" indent="0" algn="ctr">
              <a:buNone/>
            </a:pPr>
            <a:r>
              <a:rPr lang="en-US" sz="1400" b="1" dirty="0">
                <a:solidFill>
                  <a:schemeClr val="accent1"/>
                </a:solidFill>
              </a:rPr>
              <a:t>Separate address spaces</a:t>
            </a:r>
            <a:endParaRPr lang="en-US" sz="1400" dirty="0"/>
          </a:p>
        </p:txBody>
      </p:sp>
      <p:sp>
        <p:nvSpPr>
          <p:cNvPr id="7" name="Chip"/>
          <p:cNvSpPr/>
          <p:nvPr/>
        </p:nvSpPr>
        <p:spPr>
          <a:xfrm>
            <a:off x="7406640" y="1920240"/>
            <a:ext cx="1691640" cy="1234440"/>
          </a:xfrm>
          <a:prstGeom prst="roundRect">
            <a:avLst>
              <a:gd name="adj" fmla="val 5926"/>
            </a:avLst>
          </a:prstGeom>
          <a:solidFill>
            <a:schemeClr val="bg1"/>
          </a:solidFill>
          <a:ln w="12700">
            <a:solidFill>
              <a:srgbClr val="D1D5DB"/>
            </a:solidFill>
            <a:prstDash val="solid"/>
          </a:ln>
        </p:spPr>
      </p:sp>
      <p:sp>
        <p:nvSpPr>
          <p:cNvPr id="8" name="Text 6"/>
          <p:cNvSpPr txBox="1"/>
          <p:nvPr/>
        </p:nvSpPr>
        <p:spPr>
          <a:xfrm>
            <a:off x="7406640" y="1920240"/>
            <a:ext cx="1691640" cy="1234440"/>
          </a:xfrm>
          <a:prstGeom prst="rect">
            <a:avLst/>
          </a:prstGeom>
          <a:noFill/>
          <a:ln/>
        </p:spPr>
        <p:txBody>
          <a:bodyPr wrap="square" lIns="25400" tIns="25400" rIns="25400" bIns="25400" rtlCol="0" anchor="ctr"/>
          <a:lstStyle/>
          <a:p>
            <a:pPr marL="0" indent="0" algn="ctr">
              <a:buNone/>
            </a:pPr>
            <a:r>
              <a:rPr lang="en-US" sz="1400" b="1" dirty="0">
                <a:solidFill>
                  <a:schemeClr val="tx1"/>
                </a:solidFill>
              </a:rPr>
              <a:t>Process A</a:t>
            </a:r>
            <a:endParaRPr lang="en-US" sz="1400" dirty="0"/>
          </a:p>
          <a:p>
            <a:pPr marL="0" indent="0" algn="ctr">
              <a:buNone/>
            </a:pPr>
            <a:r>
              <a:rPr lang="en-US" sz="1400" b="1" dirty="0">
                <a:solidFill>
                  <a:schemeClr val="tx1"/>
                </a:solidFill>
              </a:rPr>
              <a:t>Address space A</a:t>
            </a:r>
            <a:endParaRPr lang="en-US" sz="1400" dirty="0"/>
          </a:p>
        </p:txBody>
      </p:sp>
      <p:sp>
        <p:nvSpPr>
          <p:cNvPr id="9" name="Chip"/>
          <p:cNvSpPr/>
          <p:nvPr/>
        </p:nvSpPr>
        <p:spPr>
          <a:xfrm>
            <a:off x="9646920" y="1920240"/>
            <a:ext cx="1691640" cy="1234440"/>
          </a:xfrm>
          <a:prstGeom prst="roundRect">
            <a:avLst>
              <a:gd name="adj" fmla="val 5926"/>
            </a:avLst>
          </a:prstGeom>
          <a:solidFill>
            <a:schemeClr val="bg1"/>
          </a:solidFill>
          <a:ln w="12700">
            <a:solidFill>
              <a:srgbClr val="D1D5DB"/>
            </a:solidFill>
            <a:prstDash val="solid"/>
          </a:ln>
        </p:spPr>
      </p:sp>
      <p:sp>
        <p:nvSpPr>
          <p:cNvPr id="10" name="Text 8"/>
          <p:cNvSpPr txBox="1"/>
          <p:nvPr/>
        </p:nvSpPr>
        <p:spPr>
          <a:xfrm>
            <a:off x="9646920" y="1920240"/>
            <a:ext cx="1691640" cy="1234440"/>
          </a:xfrm>
          <a:prstGeom prst="rect">
            <a:avLst/>
          </a:prstGeom>
          <a:noFill/>
          <a:ln/>
        </p:spPr>
        <p:txBody>
          <a:bodyPr wrap="square" lIns="25400" tIns="25400" rIns="25400" bIns="25400" rtlCol="0" anchor="ctr"/>
          <a:lstStyle/>
          <a:p>
            <a:pPr marL="0" indent="0" algn="ctr">
              <a:buNone/>
            </a:pPr>
            <a:r>
              <a:rPr lang="en-US" sz="1400" b="1" dirty="0">
                <a:solidFill>
                  <a:schemeClr val="tx1"/>
                </a:solidFill>
              </a:rPr>
              <a:t>Process B</a:t>
            </a:r>
            <a:endParaRPr lang="en-US" sz="1400" dirty="0"/>
          </a:p>
          <a:p>
            <a:pPr marL="0" indent="0" algn="ctr">
              <a:buNone/>
            </a:pPr>
            <a:r>
              <a:rPr lang="en-US" sz="1400" b="1" dirty="0">
                <a:solidFill>
                  <a:schemeClr val="tx1"/>
                </a:solidFill>
              </a:rPr>
              <a:t>Address space B</a:t>
            </a:r>
            <a:endParaRPr lang="en-US" sz="1400" dirty="0"/>
          </a:p>
        </p:txBody>
      </p:sp>
      <p:sp>
        <p:nvSpPr>
          <p:cNvPr id="11" name="Arrow"/>
          <p:cNvSpPr/>
          <p:nvPr/>
        </p:nvSpPr>
        <p:spPr>
          <a:xfrm>
            <a:off x="9125712" y="2542032"/>
            <a:ext cx="493776" cy="0"/>
          </a:xfrm>
          <a:prstGeom prst="line">
            <a:avLst/>
          </a:prstGeom>
          <a:noFill/>
          <a:ln w="28575">
            <a:solidFill>
              <a:schemeClr val="accent1"/>
            </a:solidFill>
            <a:prstDash val="solid"/>
            <a:headEnd type="triangle"/>
            <a:tailEnd type="triangle"/>
          </a:ln>
        </p:spPr>
      </p:sp>
      <p:sp>
        <p:nvSpPr>
          <p:cNvPr id="12" name="Text 10"/>
          <p:cNvSpPr txBox="1"/>
          <p:nvPr/>
        </p:nvSpPr>
        <p:spPr>
          <a:xfrm>
            <a:off x="9098280" y="2011680"/>
            <a:ext cx="548640" cy="45720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13" name="Race condition note"/>
          <p:cNvSpPr/>
          <p:nvPr/>
        </p:nvSpPr>
        <p:spPr>
          <a:xfrm>
            <a:off x="7406640" y="3474720"/>
            <a:ext cx="3931920" cy="914400"/>
          </a:xfrm>
          <a:prstGeom prst="roundRect">
            <a:avLst>
              <a:gd name="adj" fmla="val 8000"/>
            </a:avLst>
          </a:prstGeom>
          <a:solidFill>
            <a:schemeClr val="accent2"/>
          </a:solidFill>
          <a:ln w="12700">
            <a:solidFill>
              <a:schemeClr val="accent1"/>
            </a:solidFill>
            <a:prstDash val="solid"/>
          </a:ln>
        </p:spPr>
      </p:sp>
      <p:sp>
        <p:nvSpPr>
          <p:cNvPr id="14" name="Text 12"/>
          <p:cNvSpPr txBox="1"/>
          <p:nvPr/>
        </p:nvSpPr>
        <p:spPr>
          <a:xfrm>
            <a:off x="7498080" y="3474720"/>
            <a:ext cx="3749040" cy="914400"/>
          </a:xfrm>
          <a:prstGeom prst="rect">
            <a:avLst/>
          </a:prstGeom>
          <a:noFill/>
          <a:ln/>
        </p:spPr>
        <p:txBody>
          <a:bodyPr wrap="square" lIns="0" tIns="0" rIns="0" bIns="0" rtlCol="0" anchor="ctr"/>
          <a:lstStyle/>
          <a:p>
            <a:pPr marL="0" indent="0" algn="ctr">
              <a:buNone/>
            </a:pPr>
            <a:r>
              <a:rPr lang="en-US" sz="1500" b="1" dirty="0">
                <a:solidFill>
                  <a:schemeClr val="accent1"/>
                </a:solidFill>
              </a:rPr>
              <a:t>Uncoordinated access to shared data → race condition</a:t>
            </a:r>
            <a:endParaRPr lang="en-US" sz="1500" dirty="0"/>
          </a:p>
        </p:txBody>
      </p:sp>
      <p:sp>
        <p:nvSpPr>
          <p:cNvPr id="15" name="Core problem panel"/>
          <p:cNvSpPr/>
          <p:nvPr/>
        </p:nvSpPr>
        <p:spPr>
          <a:xfrm>
            <a:off x="548640" y="4983480"/>
            <a:ext cx="11064240" cy="1280160"/>
          </a:xfrm>
          <a:prstGeom prst="roundRect">
            <a:avLst>
              <a:gd name="adj" fmla="val 7143"/>
            </a:avLst>
          </a:prstGeom>
          <a:solidFill>
            <a:schemeClr val="accent2"/>
          </a:solidFill>
          <a:ln w="15875">
            <a:solidFill>
              <a:schemeClr val="accent1"/>
            </a:solidFill>
            <a:prstDash val="solid"/>
          </a:ln>
          <a:effectLst>
            <a:outerShdw blurRad="76200" dist="25400" dir="5400000" algn="bl" rotWithShape="0">
              <a:srgbClr val="000000">
                <a:alpha val="10000"/>
              </a:srgbClr>
            </a:outerShdw>
          </a:effectLst>
        </p:spPr>
      </p:sp>
      <p:sp>
        <p:nvSpPr>
          <p:cNvPr id="16" name="Text 14"/>
          <p:cNvSpPr txBox="1"/>
          <p:nvPr/>
        </p:nvSpPr>
        <p:spPr>
          <a:xfrm>
            <a:off x="868680" y="5074920"/>
            <a:ext cx="36576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CORE PROBLEM</a:t>
            </a:r>
            <a:endParaRPr lang="en-US" sz="1200" dirty="0"/>
          </a:p>
        </p:txBody>
      </p:sp>
      <p:sp>
        <p:nvSpPr>
          <p:cNvPr id="17" name="Text 15"/>
          <p:cNvSpPr txBox="1"/>
          <p:nvPr/>
        </p:nvSpPr>
        <p:spPr>
          <a:xfrm>
            <a:off x="868680" y="5349240"/>
            <a:ext cx="10424160" cy="822960"/>
          </a:xfrm>
          <a:prstGeom prst="rect">
            <a:avLst/>
          </a:prstGeom>
          <a:noFill/>
          <a:ln/>
        </p:spPr>
        <p:txBody>
          <a:bodyPr wrap="square" lIns="0" tIns="0" rIns="0" bIns="0" rtlCol="0" anchor="ctr"/>
          <a:lstStyle/>
          <a:p>
            <a:pPr marL="0" indent="0">
              <a:buNone/>
            </a:pPr>
            <a:r>
              <a:rPr lang="en-US" sz="2200" i="1" dirty="0">
                <a:solidFill>
                  <a:schemeClr val="tx1"/>
                </a:solidFill>
              </a:rPr>
              <a:t>“How can multiple processes exchange data efficiently while ensuring that shared data remains consistent?”</a:t>
            </a:r>
            <a:endParaRPr lang="en-US" sz="2200" dirty="0"/>
          </a:p>
        </p:txBody>
      </p:sp>
      <p:sp>
        <p:nvSpPr>
          <p:cNvPr id="25" name="Slide Number Placeholder 0"/>
          <p:cNvSpPr>
            <a:spLocks noGrp="1"/>
          </p:cNvSpPr>
          <p:nvPr>
            <p:ph type="sldNum" sz="quarter" idx="4294967295"/>
          </p:nvPr>
        </p:nvSpPr>
        <p:spPr>
          <a:xfrm>
            <a:off x="10881360" y="6419088"/>
            <a:ext cx="75895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lIns="0" tIns="0" rIns="0" bIns="0" rtlCol="0" anchor="ctr"/>
          <a:lstStyle/>
          <a:p>
            <a:pPr marL="0" indent="0" algn="l">
              <a:buNone/>
            </a:pPr>
            <a:r>
              <a:rPr lang="en-US" sz="3200" b="1" dirty="0">
                <a:solidFill>
                  <a:schemeClr val="accent1"/>
                </a:solidFill>
              </a:rPr>
              <a:t>Project Objectives</a:t>
            </a:r>
            <a:endParaRPr lang="en-US" sz="3200" dirty="0"/>
          </a:p>
        </p:txBody>
      </p:sp>
      <p:sp>
        <p:nvSpPr>
          <p:cNvPr id="3" name="Objective card 1"/>
          <p:cNvSpPr/>
          <p:nvPr/>
        </p:nvSpPr>
        <p:spPr>
          <a:xfrm>
            <a:off x="548640" y="1280160"/>
            <a:ext cx="3520440" cy="2240280"/>
          </a:xfrm>
          <a:prstGeom prst="roundRect">
            <a:avLst>
              <a:gd name="adj" fmla="val 4082"/>
            </a:avLst>
          </a:prstGeom>
          <a:solidFill>
            <a:schemeClr val="bg1"/>
          </a:solidFill>
          <a:ln w="9525">
            <a:solidFill>
              <a:srgbClr val="D1D5DB"/>
            </a:solidFill>
            <a:prstDash val="solid"/>
          </a:ln>
          <a:effectLst>
            <a:outerShdw blurRad="76200" dist="25400" dir="5400000" algn="bl" rotWithShape="0">
              <a:srgbClr val="000000">
                <a:alpha val="10000"/>
              </a:srgbClr>
            </a:outerShdw>
          </a:effectLst>
        </p:spPr>
      </p:sp>
      <p:sp>
        <p:nvSpPr>
          <p:cNvPr id="4" name="Icon circle"/>
          <p:cNvSpPr/>
          <p:nvPr/>
        </p:nvSpPr>
        <p:spPr>
          <a:xfrm>
            <a:off x="822960" y="1554480"/>
            <a:ext cx="685800" cy="685800"/>
          </a:xfrm>
          <a:prstGeom prst="ellipse">
            <a:avLst/>
          </a:prstGeom>
          <a:solidFill>
            <a:schemeClr val="accent2"/>
          </a:solidFill>
          <a:ln w="6350">
            <a:solidFill>
              <a:schemeClr val="accent2"/>
            </a:solidFill>
            <a:prstDash val="solid"/>
          </a:ln>
        </p:spPr>
      </p:sp>
      <p:pic>
        <p:nvPicPr>
          <p:cNvPr id="5" name="Image 0" descr="icon"/>
          <p:cNvPicPr>
            <a:picLocks noChangeAspect="1"/>
          </p:cNvPicPr>
          <p:nvPr/>
        </p:nvPicPr>
        <p:blipFill>
          <a:blip r:embed="rId3"/>
          <a:stretch>
            <a:fillRect/>
          </a:stretch>
        </p:blipFill>
        <p:spPr>
          <a:xfrm>
            <a:off x="1014984" y="1746504"/>
            <a:ext cx="301752" cy="301752"/>
          </a:xfrm>
          <a:prstGeom prst="rect">
            <a:avLst/>
          </a:prstGeom>
        </p:spPr>
      </p:pic>
      <p:sp>
        <p:nvSpPr>
          <p:cNvPr id="6" name="Text 3"/>
          <p:cNvSpPr txBox="1"/>
          <p:nvPr/>
        </p:nvSpPr>
        <p:spPr>
          <a:xfrm>
            <a:off x="2926080" y="1554480"/>
            <a:ext cx="868680" cy="685800"/>
          </a:xfrm>
          <a:prstGeom prst="rect">
            <a:avLst/>
          </a:prstGeom>
          <a:noFill/>
          <a:ln/>
        </p:spPr>
        <p:txBody>
          <a:bodyPr wrap="square" lIns="0" tIns="0" rIns="0" bIns="0" rtlCol="0" anchor="ctr"/>
          <a:lstStyle/>
          <a:p>
            <a:pPr marL="0" indent="0" algn="r">
              <a:buNone/>
            </a:pPr>
            <a:r>
              <a:rPr lang="en-US" sz="2800" b="1" dirty="0">
                <a:solidFill>
                  <a:schemeClr val="accent5"/>
                </a:solidFill>
              </a:rPr>
              <a:t>01</a:t>
            </a:r>
            <a:endParaRPr lang="en-US" sz="2800" dirty="0"/>
          </a:p>
        </p:txBody>
      </p:sp>
      <p:sp>
        <p:nvSpPr>
          <p:cNvPr id="7" name="Text 4"/>
          <p:cNvSpPr txBox="1"/>
          <p:nvPr/>
        </p:nvSpPr>
        <p:spPr>
          <a:xfrm>
            <a:off x="822960" y="2377440"/>
            <a:ext cx="3017520" cy="1005840"/>
          </a:xfrm>
          <a:prstGeom prst="rect">
            <a:avLst/>
          </a:prstGeom>
          <a:noFill/>
          <a:ln/>
        </p:spPr>
        <p:txBody>
          <a:bodyPr wrap="square" lIns="0" tIns="0" rIns="0" bIns="0" rtlCol="0" anchor="t"/>
          <a:lstStyle/>
          <a:p>
            <a:pPr marL="0" indent="0">
              <a:buNone/>
            </a:pPr>
            <a:r>
              <a:rPr lang="en-US" sz="1700" dirty="0">
                <a:solidFill>
                  <a:schemeClr val="tx1"/>
                </a:solidFill>
              </a:rPr>
              <a:t>Implement inter-process communication using shared memory.</a:t>
            </a:r>
            <a:endParaRPr lang="en-US" sz="1700" dirty="0"/>
          </a:p>
        </p:txBody>
      </p:sp>
      <p:sp>
        <p:nvSpPr>
          <p:cNvPr id="8" name="Objective card 2"/>
          <p:cNvSpPr/>
          <p:nvPr/>
        </p:nvSpPr>
        <p:spPr>
          <a:xfrm>
            <a:off x="4343400" y="1280160"/>
            <a:ext cx="3520440" cy="2240280"/>
          </a:xfrm>
          <a:prstGeom prst="roundRect">
            <a:avLst>
              <a:gd name="adj" fmla="val 4082"/>
            </a:avLst>
          </a:prstGeom>
          <a:solidFill>
            <a:schemeClr val="bg1"/>
          </a:solidFill>
          <a:ln w="9525">
            <a:solidFill>
              <a:srgbClr val="D1D5DB"/>
            </a:solidFill>
            <a:prstDash val="solid"/>
          </a:ln>
          <a:effectLst>
            <a:outerShdw blurRad="76200" dist="25400" dir="5400000" algn="bl" rotWithShape="0">
              <a:srgbClr val="000000">
                <a:alpha val="10000"/>
              </a:srgbClr>
            </a:outerShdw>
          </a:effectLst>
        </p:spPr>
      </p:sp>
      <p:sp>
        <p:nvSpPr>
          <p:cNvPr id="9" name="Icon circle"/>
          <p:cNvSpPr/>
          <p:nvPr/>
        </p:nvSpPr>
        <p:spPr>
          <a:xfrm>
            <a:off x="4617720" y="1554480"/>
            <a:ext cx="685800" cy="685800"/>
          </a:xfrm>
          <a:prstGeom prst="ellipse">
            <a:avLst/>
          </a:prstGeom>
          <a:solidFill>
            <a:schemeClr val="accent2"/>
          </a:solidFill>
          <a:ln w="6350">
            <a:solidFill>
              <a:schemeClr val="accent2"/>
            </a:solidFill>
            <a:prstDash val="solid"/>
          </a:ln>
        </p:spPr>
      </p:sp>
      <p:pic>
        <p:nvPicPr>
          <p:cNvPr id="10" name="Image 1" descr="icon"/>
          <p:cNvPicPr>
            <a:picLocks noChangeAspect="1"/>
          </p:cNvPicPr>
          <p:nvPr/>
        </p:nvPicPr>
        <p:blipFill>
          <a:blip r:embed="rId4"/>
          <a:stretch>
            <a:fillRect/>
          </a:stretch>
        </p:blipFill>
        <p:spPr>
          <a:xfrm>
            <a:off x="4809744" y="1746504"/>
            <a:ext cx="301752" cy="301752"/>
          </a:xfrm>
          <a:prstGeom prst="rect">
            <a:avLst/>
          </a:prstGeom>
        </p:spPr>
      </p:pic>
      <p:sp>
        <p:nvSpPr>
          <p:cNvPr id="11" name="Text 7"/>
          <p:cNvSpPr txBox="1"/>
          <p:nvPr/>
        </p:nvSpPr>
        <p:spPr>
          <a:xfrm>
            <a:off x="6720840" y="1554480"/>
            <a:ext cx="868680" cy="685800"/>
          </a:xfrm>
          <a:prstGeom prst="rect">
            <a:avLst/>
          </a:prstGeom>
          <a:noFill/>
          <a:ln/>
        </p:spPr>
        <p:txBody>
          <a:bodyPr wrap="square" lIns="0" tIns="0" rIns="0" bIns="0" rtlCol="0" anchor="ctr"/>
          <a:lstStyle/>
          <a:p>
            <a:pPr marL="0" indent="0" algn="r">
              <a:buNone/>
            </a:pPr>
            <a:r>
              <a:rPr lang="en-US" sz="2800" b="1" dirty="0">
                <a:solidFill>
                  <a:schemeClr val="accent5"/>
                </a:solidFill>
              </a:rPr>
              <a:t>02</a:t>
            </a:r>
            <a:endParaRPr lang="en-US" sz="2800" dirty="0"/>
          </a:p>
        </p:txBody>
      </p:sp>
      <p:sp>
        <p:nvSpPr>
          <p:cNvPr id="12" name="Text 8"/>
          <p:cNvSpPr txBox="1"/>
          <p:nvPr/>
        </p:nvSpPr>
        <p:spPr>
          <a:xfrm>
            <a:off x="4617720" y="2377440"/>
            <a:ext cx="3017520" cy="1005840"/>
          </a:xfrm>
          <a:prstGeom prst="rect">
            <a:avLst/>
          </a:prstGeom>
          <a:noFill/>
          <a:ln/>
        </p:spPr>
        <p:txBody>
          <a:bodyPr wrap="square" lIns="0" tIns="0" rIns="0" bIns="0" rtlCol="0" anchor="t"/>
          <a:lstStyle/>
          <a:p>
            <a:pPr marL="0" indent="0">
              <a:buNone/>
            </a:pPr>
            <a:r>
              <a:rPr lang="en-US" sz="1700" dirty="0">
                <a:solidFill>
                  <a:schemeClr val="tx1"/>
                </a:solidFill>
              </a:rPr>
              <a:t>Enable a producer process to write messages and a consumer process to read them.</a:t>
            </a:r>
            <a:endParaRPr lang="en-US" sz="1700" dirty="0"/>
          </a:p>
        </p:txBody>
      </p:sp>
      <p:sp>
        <p:nvSpPr>
          <p:cNvPr id="13" name="Objective card 3"/>
          <p:cNvSpPr/>
          <p:nvPr/>
        </p:nvSpPr>
        <p:spPr>
          <a:xfrm>
            <a:off x="8138160" y="1280160"/>
            <a:ext cx="3520440" cy="2240280"/>
          </a:xfrm>
          <a:prstGeom prst="roundRect">
            <a:avLst>
              <a:gd name="adj" fmla="val 4082"/>
            </a:avLst>
          </a:prstGeom>
          <a:solidFill>
            <a:schemeClr val="bg1"/>
          </a:solidFill>
          <a:ln w="9525">
            <a:solidFill>
              <a:srgbClr val="D1D5DB"/>
            </a:solidFill>
            <a:prstDash val="solid"/>
          </a:ln>
          <a:effectLst>
            <a:outerShdw blurRad="76200" dist="25400" dir="5400000" algn="bl" rotWithShape="0">
              <a:srgbClr val="000000">
                <a:alpha val="10000"/>
              </a:srgbClr>
            </a:outerShdw>
          </a:effectLst>
        </p:spPr>
      </p:sp>
      <p:sp>
        <p:nvSpPr>
          <p:cNvPr id="14" name="Icon circle"/>
          <p:cNvSpPr/>
          <p:nvPr/>
        </p:nvSpPr>
        <p:spPr>
          <a:xfrm>
            <a:off x="8412480" y="1554480"/>
            <a:ext cx="685800" cy="685800"/>
          </a:xfrm>
          <a:prstGeom prst="ellipse">
            <a:avLst/>
          </a:prstGeom>
          <a:solidFill>
            <a:schemeClr val="accent2"/>
          </a:solidFill>
          <a:ln w="6350">
            <a:solidFill>
              <a:schemeClr val="accent2"/>
            </a:solidFill>
            <a:prstDash val="solid"/>
          </a:ln>
        </p:spPr>
      </p:sp>
      <p:pic>
        <p:nvPicPr>
          <p:cNvPr id="15" name="Image 2" descr="icon"/>
          <p:cNvPicPr>
            <a:picLocks noChangeAspect="1"/>
          </p:cNvPicPr>
          <p:nvPr/>
        </p:nvPicPr>
        <p:blipFill>
          <a:blip r:embed="rId5"/>
          <a:stretch>
            <a:fillRect/>
          </a:stretch>
        </p:blipFill>
        <p:spPr>
          <a:xfrm>
            <a:off x="8604504" y="1746504"/>
            <a:ext cx="301752" cy="301752"/>
          </a:xfrm>
          <a:prstGeom prst="rect">
            <a:avLst/>
          </a:prstGeom>
        </p:spPr>
      </p:pic>
      <p:sp>
        <p:nvSpPr>
          <p:cNvPr id="16" name="Text 11"/>
          <p:cNvSpPr txBox="1"/>
          <p:nvPr/>
        </p:nvSpPr>
        <p:spPr>
          <a:xfrm>
            <a:off x="10515600" y="1554480"/>
            <a:ext cx="868680" cy="685800"/>
          </a:xfrm>
          <a:prstGeom prst="rect">
            <a:avLst/>
          </a:prstGeom>
          <a:noFill/>
          <a:ln/>
        </p:spPr>
        <p:txBody>
          <a:bodyPr wrap="square" lIns="0" tIns="0" rIns="0" bIns="0" rtlCol="0" anchor="ctr"/>
          <a:lstStyle/>
          <a:p>
            <a:pPr marL="0" indent="0" algn="r">
              <a:buNone/>
            </a:pPr>
            <a:r>
              <a:rPr lang="en-US" sz="2800" b="1" dirty="0">
                <a:solidFill>
                  <a:schemeClr val="accent5"/>
                </a:solidFill>
              </a:rPr>
              <a:t>03</a:t>
            </a:r>
            <a:endParaRPr lang="en-US" sz="2800" dirty="0"/>
          </a:p>
        </p:txBody>
      </p:sp>
      <p:sp>
        <p:nvSpPr>
          <p:cNvPr id="17" name="Text 12"/>
          <p:cNvSpPr txBox="1"/>
          <p:nvPr/>
        </p:nvSpPr>
        <p:spPr>
          <a:xfrm>
            <a:off x="8412480" y="2377440"/>
            <a:ext cx="3017520" cy="1005840"/>
          </a:xfrm>
          <a:prstGeom prst="rect">
            <a:avLst/>
          </a:prstGeom>
          <a:noFill/>
          <a:ln/>
        </p:spPr>
        <p:txBody>
          <a:bodyPr wrap="square" lIns="0" tIns="0" rIns="0" bIns="0" rtlCol="0" anchor="t"/>
          <a:lstStyle/>
          <a:p>
            <a:pPr marL="0" indent="0">
              <a:buNone/>
            </a:pPr>
            <a:r>
              <a:rPr lang="en-US" sz="1700" dirty="0">
                <a:solidFill>
                  <a:schemeClr val="tx1"/>
                </a:solidFill>
              </a:rPr>
              <a:t>Synchronize access using process-shared semaphores.</a:t>
            </a:r>
            <a:endParaRPr lang="en-US" sz="1700" dirty="0"/>
          </a:p>
        </p:txBody>
      </p:sp>
      <p:sp>
        <p:nvSpPr>
          <p:cNvPr id="18" name="Objective card 4"/>
          <p:cNvSpPr/>
          <p:nvPr/>
        </p:nvSpPr>
        <p:spPr>
          <a:xfrm>
            <a:off x="548640" y="3749040"/>
            <a:ext cx="3520440" cy="2240280"/>
          </a:xfrm>
          <a:prstGeom prst="roundRect">
            <a:avLst>
              <a:gd name="adj" fmla="val 4082"/>
            </a:avLst>
          </a:prstGeom>
          <a:solidFill>
            <a:schemeClr val="bg1"/>
          </a:solidFill>
          <a:ln w="9525">
            <a:solidFill>
              <a:srgbClr val="D1D5DB"/>
            </a:solidFill>
            <a:prstDash val="solid"/>
          </a:ln>
          <a:effectLst>
            <a:outerShdw blurRad="76200" dist="25400" dir="5400000" algn="bl" rotWithShape="0">
              <a:srgbClr val="000000">
                <a:alpha val="10000"/>
              </a:srgbClr>
            </a:outerShdw>
          </a:effectLst>
        </p:spPr>
      </p:sp>
      <p:sp>
        <p:nvSpPr>
          <p:cNvPr id="19" name="Icon circle"/>
          <p:cNvSpPr/>
          <p:nvPr/>
        </p:nvSpPr>
        <p:spPr>
          <a:xfrm>
            <a:off x="822960" y="4023360"/>
            <a:ext cx="685800" cy="685800"/>
          </a:xfrm>
          <a:prstGeom prst="ellipse">
            <a:avLst/>
          </a:prstGeom>
          <a:solidFill>
            <a:schemeClr val="accent2"/>
          </a:solidFill>
          <a:ln w="6350">
            <a:solidFill>
              <a:schemeClr val="accent2"/>
            </a:solidFill>
            <a:prstDash val="solid"/>
          </a:ln>
        </p:spPr>
      </p:sp>
      <p:pic>
        <p:nvPicPr>
          <p:cNvPr id="20" name="Image 3" descr="icon"/>
          <p:cNvPicPr>
            <a:picLocks noChangeAspect="1"/>
          </p:cNvPicPr>
          <p:nvPr/>
        </p:nvPicPr>
        <p:blipFill>
          <a:blip r:embed="rId6"/>
          <a:stretch>
            <a:fillRect/>
          </a:stretch>
        </p:blipFill>
        <p:spPr>
          <a:xfrm>
            <a:off x="1014984" y="4215384"/>
            <a:ext cx="301752" cy="301752"/>
          </a:xfrm>
          <a:prstGeom prst="rect">
            <a:avLst/>
          </a:prstGeom>
        </p:spPr>
      </p:pic>
      <p:sp>
        <p:nvSpPr>
          <p:cNvPr id="21" name="Text 15"/>
          <p:cNvSpPr txBox="1"/>
          <p:nvPr/>
        </p:nvSpPr>
        <p:spPr>
          <a:xfrm>
            <a:off x="2926080" y="4023360"/>
            <a:ext cx="868680" cy="685800"/>
          </a:xfrm>
          <a:prstGeom prst="rect">
            <a:avLst/>
          </a:prstGeom>
          <a:noFill/>
          <a:ln/>
        </p:spPr>
        <p:txBody>
          <a:bodyPr wrap="square" lIns="0" tIns="0" rIns="0" bIns="0" rtlCol="0" anchor="ctr"/>
          <a:lstStyle/>
          <a:p>
            <a:pPr marL="0" indent="0" algn="r">
              <a:buNone/>
            </a:pPr>
            <a:r>
              <a:rPr lang="en-US" sz="2800" b="1" dirty="0">
                <a:solidFill>
                  <a:schemeClr val="accent5"/>
                </a:solidFill>
              </a:rPr>
              <a:t>04</a:t>
            </a:r>
            <a:endParaRPr lang="en-US" sz="2800" dirty="0"/>
          </a:p>
        </p:txBody>
      </p:sp>
      <p:sp>
        <p:nvSpPr>
          <p:cNvPr id="22" name="Text 16"/>
          <p:cNvSpPr txBox="1"/>
          <p:nvPr/>
        </p:nvSpPr>
        <p:spPr>
          <a:xfrm>
            <a:off x="822960" y="4846320"/>
            <a:ext cx="3017520" cy="1005840"/>
          </a:xfrm>
          <a:prstGeom prst="rect">
            <a:avLst/>
          </a:prstGeom>
          <a:noFill/>
          <a:ln/>
        </p:spPr>
        <p:txBody>
          <a:bodyPr wrap="square" lIns="0" tIns="0" rIns="0" bIns="0" rtlCol="0" anchor="t"/>
          <a:lstStyle/>
          <a:p>
            <a:pPr marL="0" indent="0">
              <a:buNone/>
            </a:pPr>
            <a:r>
              <a:rPr lang="en-US" sz="1700" dirty="0">
                <a:solidFill>
                  <a:schemeClr val="tx1"/>
                </a:solidFill>
              </a:rPr>
              <a:t>Prevent unread messages from being overwritten.</a:t>
            </a:r>
            <a:endParaRPr lang="en-US" sz="1700" dirty="0"/>
          </a:p>
        </p:txBody>
      </p:sp>
      <p:sp>
        <p:nvSpPr>
          <p:cNvPr id="23" name="Objective card 5"/>
          <p:cNvSpPr/>
          <p:nvPr/>
        </p:nvSpPr>
        <p:spPr>
          <a:xfrm>
            <a:off x="4343400" y="3749040"/>
            <a:ext cx="3520440" cy="2240280"/>
          </a:xfrm>
          <a:prstGeom prst="roundRect">
            <a:avLst>
              <a:gd name="adj" fmla="val 4082"/>
            </a:avLst>
          </a:prstGeom>
          <a:solidFill>
            <a:schemeClr val="bg1"/>
          </a:solidFill>
          <a:ln w="9525">
            <a:solidFill>
              <a:srgbClr val="D1D5DB"/>
            </a:solidFill>
            <a:prstDash val="solid"/>
          </a:ln>
          <a:effectLst>
            <a:outerShdw blurRad="76200" dist="25400" dir="5400000" algn="bl" rotWithShape="0">
              <a:srgbClr val="000000">
                <a:alpha val="10000"/>
              </a:srgbClr>
            </a:outerShdw>
          </a:effectLst>
        </p:spPr>
      </p:sp>
      <p:sp>
        <p:nvSpPr>
          <p:cNvPr id="24" name="Icon circle"/>
          <p:cNvSpPr/>
          <p:nvPr/>
        </p:nvSpPr>
        <p:spPr>
          <a:xfrm>
            <a:off x="4617720" y="4023360"/>
            <a:ext cx="685800" cy="685800"/>
          </a:xfrm>
          <a:prstGeom prst="ellipse">
            <a:avLst/>
          </a:prstGeom>
          <a:solidFill>
            <a:schemeClr val="accent2"/>
          </a:solidFill>
          <a:ln w="6350">
            <a:solidFill>
              <a:schemeClr val="accent2"/>
            </a:solidFill>
            <a:prstDash val="solid"/>
          </a:ln>
        </p:spPr>
      </p:sp>
      <p:pic>
        <p:nvPicPr>
          <p:cNvPr id="25" name="Image 4" descr="icon"/>
          <p:cNvPicPr>
            <a:picLocks noChangeAspect="1"/>
          </p:cNvPicPr>
          <p:nvPr/>
        </p:nvPicPr>
        <p:blipFill>
          <a:blip r:embed="rId7"/>
          <a:stretch>
            <a:fillRect/>
          </a:stretch>
        </p:blipFill>
        <p:spPr>
          <a:xfrm>
            <a:off x="4809744" y="4215384"/>
            <a:ext cx="301752" cy="301752"/>
          </a:xfrm>
          <a:prstGeom prst="rect">
            <a:avLst/>
          </a:prstGeom>
        </p:spPr>
      </p:pic>
      <p:sp>
        <p:nvSpPr>
          <p:cNvPr id="26" name="Text 19"/>
          <p:cNvSpPr txBox="1"/>
          <p:nvPr/>
        </p:nvSpPr>
        <p:spPr>
          <a:xfrm>
            <a:off x="6720840" y="4023360"/>
            <a:ext cx="868680" cy="685800"/>
          </a:xfrm>
          <a:prstGeom prst="rect">
            <a:avLst/>
          </a:prstGeom>
          <a:noFill/>
          <a:ln/>
        </p:spPr>
        <p:txBody>
          <a:bodyPr wrap="square" lIns="0" tIns="0" rIns="0" bIns="0" rtlCol="0" anchor="ctr"/>
          <a:lstStyle/>
          <a:p>
            <a:pPr marL="0" indent="0" algn="r">
              <a:buNone/>
            </a:pPr>
            <a:r>
              <a:rPr lang="en-US" sz="2800" b="1" dirty="0">
                <a:solidFill>
                  <a:schemeClr val="accent5"/>
                </a:solidFill>
              </a:rPr>
              <a:t>05</a:t>
            </a:r>
            <a:endParaRPr lang="en-US" sz="2800" dirty="0"/>
          </a:p>
        </p:txBody>
      </p:sp>
      <p:sp>
        <p:nvSpPr>
          <p:cNvPr id="27" name="Text 20"/>
          <p:cNvSpPr txBox="1"/>
          <p:nvPr/>
        </p:nvSpPr>
        <p:spPr>
          <a:xfrm>
            <a:off x="4617720" y="4846320"/>
            <a:ext cx="3017520" cy="1005840"/>
          </a:xfrm>
          <a:prstGeom prst="rect">
            <a:avLst/>
          </a:prstGeom>
          <a:noFill/>
          <a:ln/>
        </p:spPr>
        <p:txBody>
          <a:bodyPr wrap="square" lIns="0" tIns="0" rIns="0" bIns="0" rtlCol="0" anchor="t"/>
          <a:lstStyle/>
          <a:p>
            <a:pPr marL="0" indent="0">
              <a:buNone/>
            </a:pPr>
            <a:r>
              <a:rPr lang="en-US" sz="1700" dirty="0">
                <a:solidFill>
                  <a:schemeClr val="tx1"/>
                </a:solidFill>
              </a:rPr>
              <a:t>Validate message order and content through testing.</a:t>
            </a:r>
            <a:endParaRPr lang="en-US" sz="1700" dirty="0"/>
          </a:p>
        </p:txBody>
      </p:sp>
      <p:sp>
        <p:nvSpPr>
          <p:cNvPr id="28" name="Objective card 6"/>
          <p:cNvSpPr/>
          <p:nvPr/>
        </p:nvSpPr>
        <p:spPr>
          <a:xfrm>
            <a:off x="8138160" y="3749040"/>
            <a:ext cx="3520440" cy="2240280"/>
          </a:xfrm>
          <a:prstGeom prst="roundRect">
            <a:avLst>
              <a:gd name="adj" fmla="val 4082"/>
            </a:avLst>
          </a:prstGeom>
          <a:solidFill>
            <a:schemeClr val="bg1"/>
          </a:solidFill>
          <a:ln w="9525">
            <a:solidFill>
              <a:srgbClr val="D1D5DB"/>
            </a:solidFill>
            <a:prstDash val="solid"/>
          </a:ln>
          <a:effectLst>
            <a:outerShdw blurRad="76200" dist="25400" dir="5400000" algn="bl" rotWithShape="0">
              <a:srgbClr val="000000">
                <a:alpha val="10000"/>
              </a:srgbClr>
            </a:outerShdw>
          </a:effectLst>
        </p:spPr>
      </p:sp>
      <p:sp>
        <p:nvSpPr>
          <p:cNvPr id="29" name="Icon circle"/>
          <p:cNvSpPr/>
          <p:nvPr/>
        </p:nvSpPr>
        <p:spPr>
          <a:xfrm>
            <a:off x="8412480" y="4023360"/>
            <a:ext cx="685800" cy="685800"/>
          </a:xfrm>
          <a:prstGeom prst="ellipse">
            <a:avLst/>
          </a:prstGeom>
          <a:solidFill>
            <a:schemeClr val="accent2"/>
          </a:solidFill>
          <a:ln w="6350">
            <a:solidFill>
              <a:schemeClr val="accent2"/>
            </a:solidFill>
            <a:prstDash val="solid"/>
          </a:ln>
        </p:spPr>
      </p:sp>
      <p:pic>
        <p:nvPicPr>
          <p:cNvPr id="30" name="Image 5" descr="icon"/>
          <p:cNvPicPr>
            <a:picLocks noChangeAspect="1"/>
          </p:cNvPicPr>
          <p:nvPr/>
        </p:nvPicPr>
        <p:blipFill>
          <a:blip r:embed="rId8"/>
          <a:stretch>
            <a:fillRect/>
          </a:stretch>
        </p:blipFill>
        <p:spPr>
          <a:xfrm>
            <a:off x="8604504" y="4215384"/>
            <a:ext cx="301752" cy="301752"/>
          </a:xfrm>
          <a:prstGeom prst="rect">
            <a:avLst/>
          </a:prstGeom>
        </p:spPr>
      </p:pic>
      <p:sp>
        <p:nvSpPr>
          <p:cNvPr id="31" name="Text 23"/>
          <p:cNvSpPr txBox="1"/>
          <p:nvPr/>
        </p:nvSpPr>
        <p:spPr>
          <a:xfrm>
            <a:off x="10515600" y="4023360"/>
            <a:ext cx="868680" cy="685800"/>
          </a:xfrm>
          <a:prstGeom prst="rect">
            <a:avLst/>
          </a:prstGeom>
          <a:noFill/>
          <a:ln/>
        </p:spPr>
        <p:txBody>
          <a:bodyPr wrap="square" lIns="0" tIns="0" rIns="0" bIns="0" rtlCol="0" anchor="ctr"/>
          <a:lstStyle/>
          <a:p>
            <a:pPr marL="0" indent="0" algn="r">
              <a:buNone/>
            </a:pPr>
            <a:r>
              <a:rPr lang="en-US" sz="2800" b="1" dirty="0">
                <a:solidFill>
                  <a:schemeClr val="accent5"/>
                </a:solidFill>
              </a:rPr>
              <a:t>06</a:t>
            </a:r>
            <a:endParaRPr lang="en-US" sz="2800" dirty="0"/>
          </a:p>
        </p:txBody>
      </p:sp>
      <p:sp>
        <p:nvSpPr>
          <p:cNvPr id="32" name="Text 24"/>
          <p:cNvSpPr txBox="1"/>
          <p:nvPr/>
        </p:nvSpPr>
        <p:spPr>
          <a:xfrm>
            <a:off x="8412480" y="4846320"/>
            <a:ext cx="3017520" cy="1005840"/>
          </a:xfrm>
          <a:prstGeom prst="rect">
            <a:avLst/>
          </a:prstGeom>
          <a:noFill/>
          <a:ln/>
        </p:spPr>
        <p:txBody>
          <a:bodyPr wrap="square" lIns="0" tIns="0" rIns="0" bIns="0" rtlCol="0" anchor="t"/>
          <a:lstStyle/>
          <a:p>
            <a:pPr marL="0" indent="0">
              <a:buNone/>
            </a:pPr>
            <a:r>
              <a:rPr lang="en-US" sz="1700" dirty="0">
                <a:solidFill>
                  <a:schemeClr val="tx1"/>
                </a:solidFill>
              </a:rPr>
              <a:t>Demonstrate a working prototype on Ubuntu Linux.</a:t>
            </a:r>
            <a:endParaRPr lang="en-US" sz="1700" dirty="0"/>
          </a:p>
        </p:txBody>
      </p:sp>
      <p:sp>
        <p:nvSpPr>
          <p:cNvPr id="33" name="Slide Number Placeholder 0"/>
          <p:cNvSpPr>
            <a:spLocks noGrp="1"/>
          </p:cNvSpPr>
          <p:nvPr>
            <p:ph type="sldNum" sz="quarter" idx="4294967295"/>
          </p:nvPr>
        </p:nvSpPr>
        <p:spPr>
          <a:xfrm>
            <a:off x="10881360" y="6419088"/>
            <a:ext cx="75895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lIns="0" tIns="0" rIns="0" bIns="0" rtlCol="0" anchor="ctr"/>
          <a:lstStyle/>
          <a:p>
            <a:pPr marL="0" indent="0" algn="l">
              <a:buNone/>
            </a:pPr>
            <a:r>
              <a:rPr lang="en-US" sz="3200" b="1" dirty="0">
                <a:solidFill>
                  <a:schemeClr val="accent1"/>
                </a:solidFill>
              </a:rPr>
              <a:t>System Architecture</a:t>
            </a:r>
            <a:endParaRPr lang="en-US" sz="3200" dirty="0"/>
          </a:p>
        </p:txBody>
      </p:sp>
      <p:sp>
        <p:nvSpPr>
          <p:cNvPr id="3" name="Producer box"/>
          <p:cNvSpPr/>
          <p:nvPr/>
        </p:nvSpPr>
        <p:spPr>
          <a:xfrm>
            <a:off x="548640" y="1371600"/>
            <a:ext cx="2743200" cy="3246120"/>
          </a:xfrm>
          <a:prstGeom prst="roundRect">
            <a:avLst>
              <a:gd name="adj" fmla="val 3333"/>
            </a:avLst>
          </a:prstGeom>
          <a:solidFill>
            <a:schemeClr val="bg1"/>
          </a:solidFill>
          <a:ln w="9525">
            <a:solidFill>
              <a:srgbClr val="D1D5DB"/>
            </a:solidFill>
            <a:prstDash val="solid"/>
          </a:ln>
          <a:effectLst>
            <a:outerShdw blurRad="76200" dist="25400" dir="5400000" algn="bl" rotWithShape="0">
              <a:srgbClr val="000000">
                <a:alpha val="10000"/>
              </a:srgbClr>
            </a:outerShdw>
          </a:effectLst>
        </p:spPr>
      </p:sp>
      <p:sp>
        <p:nvSpPr>
          <p:cNvPr id="4" name="Text 2"/>
          <p:cNvSpPr txBox="1"/>
          <p:nvPr/>
        </p:nvSpPr>
        <p:spPr>
          <a:xfrm>
            <a:off x="548640" y="1463040"/>
            <a:ext cx="2743200" cy="365760"/>
          </a:xfrm>
          <a:prstGeom prst="rect">
            <a:avLst/>
          </a:prstGeom>
          <a:noFill/>
          <a:ln/>
        </p:spPr>
        <p:txBody>
          <a:bodyPr wrap="square" lIns="0" tIns="0" rIns="0" bIns="0" rtlCol="0" anchor="ctr"/>
          <a:lstStyle/>
          <a:p>
            <a:pPr marL="0" indent="0" algn="ctr">
              <a:buNone/>
            </a:pPr>
            <a:r>
              <a:rPr lang="en-US" sz="1700" b="1" dirty="0">
                <a:solidFill>
                  <a:schemeClr val="accent1"/>
                </a:solidFill>
              </a:rPr>
              <a:t>Producer Process</a:t>
            </a:r>
            <a:endParaRPr lang="en-US" sz="1700" dirty="0"/>
          </a:p>
        </p:txBody>
      </p:sp>
      <p:sp>
        <p:nvSpPr>
          <p:cNvPr id="5" name="Text 3"/>
          <p:cNvSpPr txBox="1"/>
          <p:nvPr/>
        </p:nvSpPr>
        <p:spPr>
          <a:xfrm>
            <a:off x="685800" y="1828800"/>
            <a:ext cx="2468880" cy="548640"/>
          </a:xfrm>
          <a:prstGeom prst="rect">
            <a:avLst/>
          </a:prstGeom>
          <a:noFill/>
          <a:ln/>
        </p:spPr>
        <p:txBody>
          <a:bodyPr wrap="square" lIns="0" tIns="0" rIns="0" bIns="0" rtlCol="0" anchor="ctr"/>
          <a:lstStyle/>
          <a:p>
            <a:pPr marL="0" indent="0" algn="ctr">
              <a:buNone/>
            </a:pPr>
            <a:r>
              <a:rPr lang="en-US" sz="1400" dirty="0">
                <a:solidFill>
                  <a:schemeClr val="tx2"/>
                </a:solidFill>
              </a:rPr>
              <a:t>Parent process writes messages</a:t>
            </a:r>
            <a:endParaRPr lang="en-US" sz="1400" dirty="0"/>
          </a:p>
        </p:txBody>
      </p:sp>
      <p:sp>
        <p:nvSpPr>
          <p:cNvPr id="6" name="Chip"/>
          <p:cNvSpPr/>
          <p:nvPr/>
        </p:nvSpPr>
        <p:spPr>
          <a:xfrm>
            <a:off x="777240" y="2606040"/>
            <a:ext cx="2286000" cy="502920"/>
          </a:xfrm>
          <a:prstGeom prst="roundRect">
            <a:avLst>
              <a:gd name="adj" fmla="val 14545"/>
            </a:avLst>
          </a:prstGeom>
          <a:solidFill>
            <a:schemeClr val="bg2"/>
          </a:solidFill>
          <a:ln w="12700">
            <a:solidFill>
              <a:srgbClr val="D1D5DB"/>
            </a:solidFill>
            <a:prstDash val="solid"/>
          </a:ln>
        </p:spPr>
      </p:sp>
      <p:sp>
        <p:nvSpPr>
          <p:cNvPr id="7" name="Text 5"/>
          <p:cNvSpPr txBox="1"/>
          <p:nvPr/>
        </p:nvSpPr>
        <p:spPr>
          <a:xfrm>
            <a:off x="777240" y="2606040"/>
            <a:ext cx="2286000" cy="502920"/>
          </a:xfrm>
          <a:prstGeom prst="rect">
            <a:avLst/>
          </a:prstGeom>
          <a:noFill/>
          <a:ln/>
        </p:spPr>
        <p:txBody>
          <a:bodyPr wrap="square" lIns="25400" tIns="25400" rIns="25400" bIns="25400" rtlCol="0" anchor="ctr"/>
          <a:lstStyle/>
          <a:p>
            <a:pPr marL="0" indent="0" algn="ctr">
              <a:buNone/>
            </a:pPr>
            <a:r>
              <a:rPr lang="en-US" sz="1400" b="1" dirty="0">
                <a:solidFill>
                  <a:schemeClr val="tx1"/>
                </a:solidFill>
                <a:latin typeface="Consolas" pitchFamily="34" charset="0"/>
                <a:ea typeface="Consolas" pitchFamily="34" charset="-122"/>
                <a:cs typeface="Consolas" pitchFamily="34" charset="-120"/>
              </a:rPr>
              <a:t>sem_wait(empty)</a:t>
            </a:r>
            <a:endParaRPr lang="en-US" sz="1400" dirty="0"/>
          </a:p>
        </p:txBody>
      </p:sp>
      <p:sp>
        <p:nvSpPr>
          <p:cNvPr id="8" name="Chip"/>
          <p:cNvSpPr/>
          <p:nvPr/>
        </p:nvSpPr>
        <p:spPr>
          <a:xfrm>
            <a:off x="777240" y="3246120"/>
            <a:ext cx="2286000" cy="502920"/>
          </a:xfrm>
          <a:prstGeom prst="roundRect">
            <a:avLst>
              <a:gd name="adj" fmla="val 14545"/>
            </a:avLst>
          </a:prstGeom>
          <a:solidFill>
            <a:schemeClr val="bg2"/>
          </a:solidFill>
          <a:ln w="12700">
            <a:solidFill>
              <a:srgbClr val="D1D5DB"/>
            </a:solidFill>
            <a:prstDash val="solid"/>
          </a:ln>
        </p:spPr>
      </p:sp>
      <p:sp>
        <p:nvSpPr>
          <p:cNvPr id="9" name="Text 7"/>
          <p:cNvSpPr txBox="1"/>
          <p:nvPr/>
        </p:nvSpPr>
        <p:spPr>
          <a:xfrm>
            <a:off x="777240" y="3246120"/>
            <a:ext cx="2286000" cy="502920"/>
          </a:xfrm>
          <a:prstGeom prst="rect">
            <a:avLst/>
          </a:prstGeom>
          <a:noFill/>
          <a:ln/>
        </p:spPr>
        <p:txBody>
          <a:bodyPr wrap="square" lIns="25400" tIns="25400" rIns="25400" bIns="25400" rtlCol="0" anchor="ctr"/>
          <a:lstStyle/>
          <a:p>
            <a:pPr marL="0" indent="0" algn="ctr">
              <a:buNone/>
            </a:pPr>
            <a:r>
              <a:rPr lang="en-US" sz="1400" b="1" dirty="0">
                <a:solidFill>
                  <a:schemeClr val="tx1"/>
                </a:solidFill>
                <a:latin typeface="Consolas" pitchFamily="34" charset="0"/>
                <a:ea typeface="Consolas" pitchFamily="34" charset="-122"/>
                <a:cs typeface="Consolas" pitchFamily="34" charset="-120"/>
              </a:rPr>
              <a:t>write message</a:t>
            </a:r>
            <a:endParaRPr lang="en-US" sz="1400" dirty="0"/>
          </a:p>
        </p:txBody>
      </p:sp>
      <p:sp>
        <p:nvSpPr>
          <p:cNvPr id="10" name="Chip"/>
          <p:cNvSpPr/>
          <p:nvPr/>
        </p:nvSpPr>
        <p:spPr>
          <a:xfrm>
            <a:off x="777240" y="3886200"/>
            <a:ext cx="2286000" cy="502920"/>
          </a:xfrm>
          <a:prstGeom prst="roundRect">
            <a:avLst>
              <a:gd name="adj" fmla="val 14545"/>
            </a:avLst>
          </a:prstGeom>
          <a:solidFill>
            <a:schemeClr val="bg2"/>
          </a:solidFill>
          <a:ln w="12700">
            <a:solidFill>
              <a:srgbClr val="D1D5DB"/>
            </a:solidFill>
            <a:prstDash val="solid"/>
          </a:ln>
        </p:spPr>
      </p:sp>
      <p:sp>
        <p:nvSpPr>
          <p:cNvPr id="11" name="Text 9"/>
          <p:cNvSpPr txBox="1"/>
          <p:nvPr/>
        </p:nvSpPr>
        <p:spPr>
          <a:xfrm>
            <a:off x="777240" y="3886200"/>
            <a:ext cx="2286000" cy="502920"/>
          </a:xfrm>
          <a:prstGeom prst="rect">
            <a:avLst/>
          </a:prstGeom>
          <a:noFill/>
          <a:ln/>
        </p:spPr>
        <p:txBody>
          <a:bodyPr wrap="square" lIns="25400" tIns="25400" rIns="25400" bIns="25400" rtlCol="0" anchor="ctr"/>
          <a:lstStyle/>
          <a:p>
            <a:pPr marL="0" indent="0" algn="ctr">
              <a:buNone/>
            </a:pPr>
            <a:r>
              <a:rPr lang="en-US" sz="1400" b="1" dirty="0">
                <a:solidFill>
                  <a:schemeClr val="tx1"/>
                </a:solidFill>
                <a:latin typeface="Consolas" pitchFamily="34" charset="0"/>
                <a:ea typeface="Consolas" pitchFamily="34" charset="-122"/>
                <a:cs typeface="Consolas" pitchFamily="34" charset="-120"/>
              </a:rPr>
              <a:t>sem_post(full)</a:t>
            </a:r>
            <a:endParaRPr lang="en-US" sz="1400" dirty="0"/>
          </a:p>
        </p:txBody>
      </p:sp>
      <p:sp>
        <p:nvSpPr>
          <p:cNvPr id="12" name="Consumer box"/>
          <p:cNvSpPr/>
          <p:nvPr/>
        </p:nvSpPr>
        <p:spPr>
          <a:xfrm>
            <a:off x="8897112" y="1371600"/>
            <a:ext cx="2743200" cy="3246120"/>
          </a:xfrm>
          <a:prstGeom prst="roundRect">
            <a:avLst>
              <a:gd name="adj" fmla="val 3333"/>
            </a:avLst>
          </a:prstGeom>
          <a:solidFill>
            <a:schemeClr val="bg1"/>
          </a:solidFill>
          <a:ln w="9525">
            <a:solidFill>
              <a:srgbClr val="D1D5DB"/>
            </a:solidFill>
            <a:prstDash val="solid"/>
          </a:ln>
          <a:effectLst>
            <a:outerShdw blurRad="76200" dist="25400" dir="5400000" algn="bl" rotWithShape="0">
              <a:srgbClr val="000000">
                <a:alpha val="10000"/>
              </a:srgbClr>
            </a:outerShdw>
          </a:effectLst>
        </p:spPr>
      </p:sp>
      <p:sp>
        <p:nvSpPr>
          <p:cNvPr id="13" name="Text 11"/>
          <p:cNvSpPr txBox="1"/>
          <p:nvPr/>
        </p:nvSpPr>
        <p:spPr>
          <a:xfrm>
            <a:off x="8897112" y="1463040"/>
            <a:ext cx="2743200" cy="365760"/>
          </a:xfrm>
          <a:prstGeom prst="rect">
            <a:avLst/>
          </a:prstGeom>
          <a:noFill/>
          <a:ln/>
        </p:spPr>
        <p:txBody>
          <a:bodyPr wrap="square" lIns="0" tIns="0" rIns="0" bIns="0" rtlCol="0" anchor="ctr"/>
          <a:lstStyle/>
          <a:p>
            <a:pPr marL="0" indent="0" algn="ctr">
              <a:buNone/>
            </a:pPr>
            <a:r>
              <a:rPr lang="en-US" sz="1700" b="1" dirty="0">
                <a:solidFill>
                  <a:schemeClr val="accent1"/>
                </a:solidFill>
              </a:rPr>
              <a:t>Consumer Process</a:t>
            </a:r>
            <a:endParaRPr lang="en-US" sz="1700" dirty="0"/>
          </a:p>
        </p:txBody>
      </p:sp>
      <p:sp>
        <p:nvSpPr>
          <p:cNvPr id="14" name="Text 12"/>
          <p:cNvSpPr txBox="1"/>
          <p:nvPr/>
        </p:nvSpPr>
        <p:spPr>
          <a:xfrm>
            <a:off x="9034272" y="1828800"/>
            <a:ext cx="2468880" cy="548640"/>
          </a:xfrm>
          <a:prstGeom prst="rect">
            <a:avLst/>
          </a:prstGeom>
          <a:noFill/>
          <a:ln/>
        </p:spPr>
        <p:txBody>
          <a:bodyPr wrap="square" lIns="0" tIns="0" rIns="0" bIns="0" rtlCol="0" anchor="ctr"/>
          <a:lstStyle/>
          <a:p>
            <a:pPr marL="0" indent="0" algn="ctr">
              <a:buNone/>
            </a:pPr>
            <a:r>
              <a:rPr lang="en-US" sz="1400" dirty="0">
                <a:solidFill>
                  <a:schemeClr val="tx2"/>
                </a:solidFill>
              </a:rPr>
              <a:t>Child process (fork) reads messages</a:t>
            </a:r>
            <a:endParaRPr lang="en-US" sz="1400" dirty="0"/>
          </a:p>
        </p:txBody>
      </p:sp>
      <p:sp>
        <p:nvSpPr>
          <p:cNvPr id="15" name="Chip"/>
          <p:cNvSpPr/>
          <p:nvPr/>
        </p:nvSpPr>
        <p:spPr>
          <a:xfrm>
            <a:off x="9125712" y="2606040"/>
            <a:ext cx="2286000" cy="502920"/>
          </a:xfrm>
          <a:prstGeom prst="roundRect">
            <a:avLst>
              <a:gd name="adj" fmla="val 14545"/>
            </a:avLst>
          </a:prstGeom>
          <a:solidFill>
            <a:schemeClr val="bg2"/>
          </a:solidFill>
          <a:ln w="12700">
            <a:solidFill>
              <a:srgbClr val="D1D5DB"/>
            </a:solidFill>
            <a:prstDash val="solid"/>
          </a:ln>
        </p:spPr>
      </p:sp>
      <p:sp>
        <p:nvSpPr>
          <p:cNvPr id="16" name="Text 14"/>
          <p:cNvSpPr txBox="1"/>
          <p:nvPr/>
        </p:nvSpPr>
        <p:spPr>
          <a:xfrm>
            <a:off x="9125712" y="2606040"/>
            <a:ext cx="2286000" cy="502920"/>
          </a:xfrm>
          <a:prstGeom prst="rect">
            <a:avLst/>
          </a:prstGeom>
          <a:noFill/>
          <a:ln/>
        </p:spPr>
        <p:txBody>
          <a:bodyPr wrap="square" lIns="25400" tIns="25400" rIns="25400" bIns="25400" rtlCol="0" anchor="ctr"/>
          <a:lstStyle/>
          <a:p>
            <a:pPr marL="0" indent="0" algn="ctr">
              <a:buNone/>
            </a:pPr>
            <a:r>
              <a:rPr lang="en-US" sz="1400" b="1" dirty="0">
                <a:solidFill>
                  <a:schemeClr val="tx1"/>
                </a:solidFill>
                <a:latin typeface="Consolas" pitchFamily="34" charset="0"/>
                <a:ea typeface="Consolas" pitchFamily="34" charset="-122"/>
                <a:cs typeface="Consolas" pitchFamily="34" charset="-120"/>
              </a:rPr>
              <a:t>sem_wait(full)</a:t>
            </a:r>
            <a:endParaRPr lang="en-US" sz="1400" dirty="0"/>
          </a:p>
        </p:txBody>
      </p:sp>
      <p:sp>
        <p:nvSpPr>
          <p:cNvPr id="17" name="Chip"/>
          <p:cNvSpPr/>
          <p:nvPr/>
        </p:nvSpPr>
        <p:spPr>
          <a:xfrm>
            <a:off x="9125712" y="3246120"/>
            <a:ext cx="2286000" cy="502920"/>
          </a:xfrm>
          <a:prstGeom prst="roundRect">
            <a:avLst>
              <a:gd name="adj" fmla="val 14545"/>
            </a:avLst>
          </a:prstGeom>
          <a:solidFill>
            <a:schemeClr val="bg2"/>
          </a:solidFill>
          <a:ln w="12700">
            <a:solidFill>
              <a:srgbClr val="D1D5DB"/>
            </a:solidFill>
            <a:prstDash val="solid"/>
          </a:ln>
        </p:spPr>
      </p:sp>
      <p:sp>
        <p:nvSpPr>
          <p:cNvPr id="18" name="Text 16"/>
          <p:cNvSpPr txBox="1"/>
          <p:nvPr/>
        </p:nvSpPr>
        <p:spPr>
          <a:xfrm>
            <a:off x="9125712" y="3246120"/>
            <a:ext cx="2286000" cy="502920"/>
          </a:xfrm>
          <a:prstGeom prst="rect">
            <a:avLst/>
          </a:prstGeom>
          <a:noFill/>
          <a:ln/>
        </p:spPr>
        <p:txBody>
          <a:bodyPr wrap="square" lIns="25400" tIns="25400" rIns="25400" bIns="25400" rtlCol="0" anchor="ctr"/>
          <a:lstStyle/>
          <a:p>
            <a:pPr marL="0" indent="0" algn="ctr">
              <a:buNone/>
            </a:pPr>
            <a:r>
              <a:rPr lang="en-US" sz="1400" b="1" dirty="0">
                <a:solidFill>
                  <a:schemeClr val="tx1"/>
                </a:solidFill>
                <a:latin typeface="Consolas" pitchFamily="34" charset="0"/>
                <a:ea typeface="Consolas" pitchFamily="34" charset="-122"/>
                <a:cs typeface="Consolas" pitchFamily="34" charset="-120"/>
              </a:rPr>
              <a:t>read message</a:t>
            </a:r>
            <a:endParaRPr lang="en-US" sz="1400" dirty="0"/>
          </a:p>
        </p:txBody>
      </p:sp>
      <p:sp>
        <p:nvSpPr>
          <p:cNvPr id="19" name="Chip"/>
          <p:cNvSpPr/>
          <p:nvPr/>
        </p:nvSpPr>
        <p:spPr>
          <a:xfrm>
            <a:off x="9125712" y="3886200"/>
            <a:ext cx="2286000" cy="502920"/>
          </a:xfrm>
          <a:prstGeom prst="roundRect">
            <a:avLst>
              <a:gd name="adj" fmla="val 14545"/>
            </a:avLst>
          </a:prstGeom>
          <a:solidFill>
            <a:schemeClr val="bg2"/>
          </a:solidFill>
          <a:ln w="12700">
            <a:solidFill>
              <a:srgbClr val="D1D5DB"/>
            </a:solidFill>
            <a:prstDash val="solid"/>
          </a:ln>
        </p:spPr>
      </p:sp>
      <p:sp>
        <p:nvSpPr>
          <p:cNvPr id="20" name="Text 18"/>
          <p:cNvSpPr txBox="1"/>
          <p:nvPr/>
        </p:nvSpPr>
        <p:spPr>
          <a:xfrm>
            <a:off x="9125712" y="3886200"/>
            <a:ext cx="2286000" cy="502920"/>
          </a:xfrm>
          <a:prstGeom prst="rect">
            <a:avLst/>
          </a:prstGeom>
          <a:noFill/>
          <a:ln/>
        </p:spPr>
        <p:txBody>
          <a:bodyPr wrap="square" lIns="25400" tIns="25400" rIns="25400" bIns="25400" rtlCol="0" anchor="ctr"/>
          <a:lstStyle/>
          <a:p>
            <a:pPr marL="0" indent="0" algn="ctr">
              <a:buNone/>
            </a:pPr>
            <a:r>
              <a:rPr lang="en-US" sz="1400" b="1" dirty="0">
                <a:solidFill>
                  <a:schemeClr val="tx1"/>
                </a:solidFill>
                <a:latin typeface="Consolas" pitchFamily="34" charset="0"/>
                <a:ea typeface="Consolas" pitchFamily="34" charset="-122"/>
                <a:cs typeface="Consolas" pitchFamily="34" charset="-120"/>
              </a:rPr>
              <a:t>sem_post(empty)</a:t>
            </a:r>
            <a:endParaRPr lang="en-US" sz="1400" dirty="0"/>
          </a:p>
        </p:txBody>
      </p:sp>
      <p:sp>
        <p:nvSpPr>
          <p:cNvPr id="21" name="Shared memory region"/>
          <p:cNvSpPr/>
          <p:nvPr/>
        </p:nvSpPr>
        <p:spPr>
          <a:xfrm>
            <a:off x="3840480" y="1371600"/>
            <a:ext cx="4507992" cy="3246120"/>
          </a:xfrm>
          <a:prstGeom prst="roundRect">
            <a:avLst>
              <a:gd name="adj" fmla="val 2817"/>
            </a:avLst>
          </a:prstGeom>
          <a:solidFill>
            <a:schemeClr val="accent2"/>
          </a:solidFill>
          <a:ln w="19050">
            <a:solidFill>
              <a:schemeClr val="accent1"/>
            </a:solidFill>
            <a:prstDash val="solid"/>
          </a:ln>
          <a:effectLst>
            <a:outerShdw blurRad="76200" dist="25400" dir="5400000" algn="bl" rotWithShape="0">
              <a:srgbClr val="000000">
                <a:alpha val="10000"/>
              </a:srgbClr>
            </a:outerShdw>
          </a:effectLst>
        </p:spPr>
      </p:sp>
      <p:sp>
        <p:nvSpPr>
          <p:cNvPr id="22" name="Text 20"/>
          <p:cNvSpPr txBox="1"/>
          <p:nvPr/>
        </p:nvSpPr>
        <p:spPr>
          <a:xfrm>
            <a:off x="3840480" y="1444752"/>
            <a:ext cx="4507992" cy="365760"/>
          </a:xfrm>
          <a:prstGeom prst="rect">
            <a:avLst/>
          </a:prstGeom>
          <a:noFill/>
          <a:ln/>
        </p:spPr>
        <p:txBody>
          <a:bodyPr wrap="square" lIns="0" tIns="0" rIns="0" bIns="0" rtlCol="0" anchor="ctr"/>
          <a:lstStyle/>
          <a:p>
            <a:pPr marL="0" indent="0" algn="ctr">
              <a:buNone/>
            </a:pPr>
            <a:r>
              <a:rPr lang="en-US" sz="1700" b="1" dirty="0">
                <a:solidFill>
                  <a:schemeClr val="accent1"/>
                </a:solidFill>
              </a:rPr>
              <a:t>Shared Memory Region</a:t>
            </a:r>
            <a:endParaRPr lang="en-US" sz="1700" dirty="0"/>
          </a:p>
        </p:txBody>
      </p:sp>
      <p:sp>
        <p:nvSpPr>
          <p:cNvPr id="23" name="Text 21"/>
          <p:cNvSpPr txBox="1"/>
          <p:nvPr/>
        </p:nvSpPr>
        <p:spPr>
          <a:xfrm>
            <a:off x="3840480" y="1792224"/>
            <a:ext cx="4507992" cy="274320"/>
          </a:xfrm>
          <a:prstGeom prst="rect">
            <a:avLst/>
          </a:prstGeom>
          <a:noFill/>
          <a:ln/>
        </p:spPr>
        <p:txBody>
          <a:bodyPr wrap="square" lIns="0" tIns="0" rIns="0" bIns="0" rtlCol="0" anchor="ctr"/>
          <a:lstStyle/>
          <a:p>
            <a:pPr marL="0" indent="0" algn="ctr">
              <a:buNone/>
            </a:pPr>
            <a:r>
              <a:rPr lang="en-US" sz="1200" dirty="0">
                <a:solidFill>
                  <a:schemeClr val="tx2"/>
                </a:solidFill>
              </a:rPr>
              <a:t>mapped into both address spaces via mmap()</a:t>
            </a:r>
            <a:endParaRPr lang="en-US" sz="1200" dirty="0"/>
          </a:p>
        </p:txBody>
      </p:sp>
      <p:sp>
        <p:nvSpPr>
          <p:cNvPr id="24" name="Chip"/>
          <p:cNvSpPr/>
          <p:nvPr/>
        </p:nvSpPr>
        <p:spPr>
          <a:xfrm>
            <a:off x="4069080" y="2194560"/>
            <a:ext cx="4050792" cy="502920"/>
          </a:xfrm>
          <a:prstGeom prst="roundRect">
            <a:avLst>
              <a:gd name="adj" fmla="val 14545"/>
            </a:avLst>
          </a:prstGeom>
          <a:solidFill>
            <a:schemeClr val="bg1"/>
          </a:solidFill>
          <a:ln w="12700">
            <a:solidFill>
              <a:srgbClr val="D1D5DB"/>
            </a:solidFill>
            <a:prstDash val="solid"/>
          </a:ln>
        </p:spPr>
      </p:sp>
      <p:sp>
        <p:nvSpPr>
          <p:cNvPr id="25" name="Text 23"/>
          <p:cNvSpPr txBox="1"/>
          <p:nvPr/>
        </p:nvSpPr>
        <p:spPr>
          <a:xfrm>
            <a:off x="4069080" y="2194560"/>
            <a:ext cx="4050792" cy="502920"/>
          </a:xfrm>
          <a:prstGeom prst="rect">
            <a:avLst/>
          </a:prstGeom>
          <a:noFill/>
          <a:ln/>
        </p:spPr>
        <p:txBody>
          <a:bodyPr wrap="square" lIns="25400" tIns="25400" rIns="25400" bIns="25400" rtlCol="0" anchor="ctr"/>
          <a:lstStyle/>
          <a:p>
            <a:pPr marL="0" indent="0" algn="ctr">
              <a:buNone/>
            </a:pPr>
            <a:r>
              <a:rPr lang="en-US" sz="1400" b="1" dirty="0">
                <a:solidFill>
                  <a:schemeClr val="tx1"/>
                </a:solidFill>
              </a:rPr>
              <a:t>Message buffer</a:t>
            </a:r>
            <a:endParaRPr lang="en-US" sz="1400" dirty="0"/>
          </a:p>
        </p:txBody>
      </p:sp>
      <p:sp>
        <p:nvSpPr>
          <p:cNvPr id="26" name="Chip"/>
          <p:cNvSpPr/>
          <p:nvPr/>
        </p:nvSpPr>
        <p:spPr>
          <a:xfrm>
            <a:off x="4069080" y="2834640"/>
            <a:ext cx="1965960" cy="502920"/>
          </a:xfrm>
          <a:prstGeom prst="roundRect">
            <a:avLst>
              <a:gd name="adj" fmla="val 14545"/>
            </a:avLst>
          </a:prstGeom>
          <a:solidFill>
            <a:schemeClr val="bg1"/>
          </a:solidFill>
          <a:ln w="12700">
            <a:solidFill>
              <a:srgbClr val="D1D5DB"/>
            </a:solidFill>
            <a:prstDash val="solid"/>
          </a:ln>
        </p:spPr>
      </p:sp>
      <p:sp>
        <p:nvSpPr>
          <p:cNvPr id="27" name="Text 25"/>
          <p:cNvSpPr txBox="1"/>
          <p:nvPr/>
        </p:nvSpPr>
        <p:spPr>
          <a:xfrm>
            <a:off x="4069080" y="2834640"/>
            <a:ext cx="1965960" cy="502920"/>
          </a:xfrm>
          <a:prstGeom prst="rect">
            <a:avLst/>
          </a:prstGeom>
          <a:noFill/>
          <a:ln/>
        </p:spPr>
        <p:txBody>
          <a:bodyPr wrap="square" lIns="25400" tIns="25400" rIns="25400" bIns="25400" rtlCol="0" anchor="ctr"/>
          <a:lstStyle/>
          <a:p>
            <a:pPr marL="0" indent="0" algn="ctr">
              <a:buNone/>
            </a:pPr>
            <a:r>
              <a:rPr lang="en-US" sz="1400" b="1" dirty="0">
                <a:solidFill>
                  <a:schemeClr val="tx1"/>
                </a:solidFill>
              </a:rPr>
              <a:t>Sequence number</a:t>
            </a:r>
            <a:endParaRPr lang="en-US" sz="1400" dirty="0"/>
          </a:p>
        </p:txBody>
      </p:sp>
      <p:sp>
        <p:nvSpPr>
          <p:cNvPr id="28" name="Chip"/>
          <p:cNvSpPr/>
          <p:nvPr/>
        </p:nvSpPr>
        <p:spPr>
          <a:xfrm>
            <a:off x="6153912" y="2834640"/>
            <a:ext cx="1965960" cy="502920"/>
          </a:xfrm>
          <a:prstGeom prst="roundRect">
            <a:avLst>
              <a:gd name="adj" fmla="val 14545"/>
            </a:avLst>
          </a:prstGeom>
          <a:solidFill>
            <a:schemeClr val="bg1"/>
          </a:solidFill>
          <a:ln w="12700">
            <a:solidFill>
              <a:srgbClr val="D1D5DB"/>
            </a:solidFill>
            <a:prstDash val="solid"/>
          </a:ln>
        </p:spPr>
      </p:sp>
      <p:sp>
        <p:nvSpPr>
          <p:cNvPr id="29" name="Text 27"/>
          <p:cNvSpPr txBox="1"/>
          <p:nvPr/>
        </p:nvSpPr>
        <p:spPr>
          <a:xfrm>
            <a:off x="6153912" y="2834640"/>
            <a:ext cx="1965960" cy="502920"/>
          </a:xfrm>
          <a:prstGeom prst="rect">
            <a:avLst/>
          </a:prstGeom>
          <a:noFill/>
          <a:ln/>
        </p:spPr>
        <p:txBody>
          <a:bodyPr wrap="square" lIns="25400" tIns="25400" rIns="25400" bIns="25400" rtlCol="0" anchor="ctr"/>
          <a:lstStyle/>
          <a:p>
            <a:pPr marL="0" indent="0" algn="ctr">
              <a:buNone/>
            </a:pPr>
            <a:r>
              <a:rPr lang="en-US" sz="1400" b="1" dirty="0">
                <a:solidFill>
                  <a:schemeClr val="tx1"/>
                </a:solidFill>
              </a:rPr>
              <a:t>Completion flag</a:t>
            </a:r>
            <a:endParaRPr lang="en-US" sz="1400" dirty="0"/>
          </a:p>
        </p:txBody>
      </p:sp>
      <p:sp>
        <p:nvSpPr>
          <p:cNvPr id="30" name="Chip"/>
          <p:cNvSpPr/>
          <p:nvPr/>
        </p:nvSpPr>
        <p:spPr>
          <a:xfrm>
            <a:off x="4069080" y="3474720"/>
            <a:ext cx="1965960" cy="502920"/>
          </a:xfrm>
          <a:prstGeom prst="roundRect">
            <a:avLst>
              <a:gd name="adj" fmla="val 14545"/>
            </a:avLst>
          </a:prstGeom>
          <a:solidFill>
            <a:schemeClr val="bg1"/>
          </a:solidFill>
          <a:ln w="19050">
            <a:solidFill>
              <a:schemeClr val="accent1"/>
            </a:solidFill>
            <a:prstDash val="solid"/>
          </a:ln>
        </p:spPr>
      </p:sp>
      <p:sp>
        <p:nvSpPr>
          <p:cNvPr id="31" name="Text 29"/>
          <p:cNvSpPr txBox="1"/>
          <p:nvPr/>
        </p:nvSpPr>
        <p:spPr>
          <a:xfrm>
            <a:off x="4069080" y="3474720"/>
            <a:ext cx="1965960" cy="502920"/>
          </a:xfrm>
          <a:prstGeom prst="rect">
            <a:avLst/>
          </a:prstGeom>
          <a:noFill/>
          <a:ln/>
        </p:spPr>
        <p:txBody>
          <a:bodyPr wrap="square" lIns="25400" tIns="25400" rIns="25400" bIns="25400" rtlCol="0" anchor="ctr"/>
          <a:lstStyle/>
          <a:p>
            <a:pPr marL="0" indent="0" algn="ctr">
              <a:buNone/>
            </a:pPr>
            <a:r>
              <a:rPr lang="en-US" sz="1400" b="1" dirty="0">
                <a:solidFill>
                  <a:schemeClr val="tx1"/>
                </a:solidFill>
                <a:latin typeface="Consolas" pitchFamily="34" charset="0"/>
                <a:ea typeface="Consolas" pitchFamily="34" charset="-122"/>
                <a:cs typeface="Consolas" pitchFamily="34" charset="-120"/>
              </a:rPr>
              <a:t>empty semaphore</a:t>
            </a:r>
            <a:endParaRPr lang="en-US" sz="1400" dirty="0"/>
          </a:p>
        </p:txBody>
      </p:sp>
      <p:sp>
        <p:nvSpPr>
          <p:cNvPr id="32" name="Chip"/>
          <p:cNvSpPr/>
          <p:nvPr/>
        </p:nvSpPr>
        <p:spPr>
          <a:xfrm>
            <a:off x="6153912" y="3474720"/>
            <a:ext cx="1965960" cy="502920"/>
          </a:xfrm>
          <a:prstGeom prst="roundRect">
            <a:avLst>
              <a:gd name="adj" fmla="val 14545"/>
            </a:avLst>
          </a:prstGeom>
          <a:solidFill>
            <a:schemeClr val="bg1"/>
          </a:solidFill>
          <a:ln w="19050">
            <a:solidFill>
              <a:schemeClr val="accent1"/>
            </a:solidFill>
            <a:prstDash val="solid"/>
          </a:ln>
        </p:spPr>
      </p:sp>
      <p:sp>
        <p:nvSpPr>
          <p:cNvPr id="33" name="Text 31"/>
          <p:cNvSpPr txBox="1"/>
          <p:nvPr/>
        </p:nvSpPr>
        <p:spPr>
          <a:xfrm>
            <a:off x="6153912" y="3474720"/>
            <a:ext cx="1965960" cy="502920"/>
          </a:xfrm>
          <a:prstGeom prst="rect">
            <a:avLst/>
          </a:prstGeom>
          <a:noFill/>
          <a:ln/>
        </p:spPr>
        <p:txBody>
          <a:bodyPr wrap="square" lIns="25400" tIns="25400" rIns="25400" bIns="25400" rtlCol="0" anchor="ctr"/>
          <a:lstStyle/>
          <a:p>
            <a:pPr marL="0" indent="0" algn="ctr">
              <a:buNone/>
            </a:pPr>
            <a:r>
              <a:rPr lang="en-US" sz="1400" b="1" dirty="0">
                <a:solidFill>
                  <a:schemeClr val="tx1"/>
                </a:solidFill>
                <a:latin typeface="Consolas" pitchFamily="34" charset="0"/>
                <a:ea typeface="Consolas" pitchFamily="34" charset="-122"/>
                <a:cs typeface="Consolas" pitchFamily="34" charset="-120"/>
              </a:rPr>
              <a:t>full semaphore</a:t>
            </a:r>
            <a:endParaRPr lang="en-US" sz="1400" dirty="0"/>
          </a:p>
        </p:txBody>
      </p:sp>
      <p:sp>
        <p:nvSpPr>
          <p:cNvPr id="34" name="Text 32"/>
          <p:cNvSpPr txBox="1"/>
          <p:nvPr/>
        </p:nvSpPr>
        <p:spPr>
          <a:xfrm>
            <a:off x="3840480" y="4114800"/>
            <a:ext cx="4507992" cy="365760"/>
          </a:xfrm>
          <a:prstGeom prst="rect">
            <a:avLst/>
          </a:prstGeom>
          <a:noFill/>
          <a:ln/>
        </p:spPr>
        <p:txBody>
          <a:bodyPr wrap="square" lIns="0" tIns="0" rIns="0" bIns="0" rtlCol="0" anchor="ctr"/>
          <a:lstStyle/>
          <a:p>
            <a:pPr marL="0" indent="0" algn="ctr">
              <a:buNone/>
            </a:pPr>
            <a:r>
              <a:rPr lang="en-US" sz="1200" dirty="0">
                <a:solidFill>
                  <a:schemeClr val="tx2"/>
                </a:solidFill>
              </a:rPr>
              <a:t>Single message slot  |  one producer, one consumer</a:t>
            </a:r>
            <a:endParaRPr lang="en-US" sz="1200" dirty="0"/>
          </a:p>
        </p:txBody>
      </p:sp>
      <p:sp>
        <p:nvSpPr>
          <p:cNvPr id="35" name="Arrow"/>
          <p:cNvSpPr/>
          <p:nvPr/>
        </p:nvSpPr>
        <p:spPr>
          <a:xfrm>
            <a:off x="3310128" y="2926080"/>
            <a:ext cx="512064" cy="0"/>
          </a:xfrm>
          <a:prstGeom prst="line">
            <a:avLst/>
          </a:prstGeom>
          <a:noFill/>
          <a:ln w="28575">
            <a:solidFill>
              <a:schemeClr val="accent1"/>
            </a:solidFill>
            <a:prstDash val="solid"/>
            <a:tailEnd type="triangle"/>
          </a:ln>
        </p:spPr>
      </p:sp>
      <p:sp>
        <p:nvSpPr>
          <p:cNvPr id="36" name="Arrow"/>
          <p:cNvSpPr/>
          <p:nvPr/>
        </p:nvSpPr>
        <p:spPr>
          <a:xfrm>
            <a:off x="8366760" y="2926080"/>
            <a:ext cx="512064" cy="0"/>
          </a:xfrm>
          <a:prstGeom prst="line">
            <a:avLst/>
          </a:prstGeom>
          <a:noFill/>
          <a:ln w="28575">
            <a:solidFill>
              <a:schemeClr val="accent1"/>
            </a:solidFill>
            <a:prstDash val="solid"/>
            <a:tailEnd type="triangle"/>
          </a:ln>
        </p:spPr>
      </p:sp>
      <p:sp>
        <p:nvSpPr>
          <p:cNvPr id="37" name="Text 35"/>
          <p:cNvSpPr txBox="1"/>
          <p:nvPr/>
        </p:nvSpPr>
        <p:spPr>
          <a:xfrm>
            <a:off x="3200400" y="2606040"/>
            <a:ext cx="731520" cy="274320"/>
          </a:xfrm>
          <a:prstGeom prst="rect">
            <a:avLst/>
          </a:prstGeom>
          <a:noFill/>
          <a:ln/>
        </p:spPr>
        <p:txBody>
          <a:bodyPr wrap="square" lIns="0" tIns="0" rIns="0" bIns="0" rtlCol="0" anchor="ctr"/>
          <a:lstStyle/>
          <a:p>
            <a:pPr marL="0" indent="0" algn="ctr">
              <a:buNone/>
            </a:pPr>
            <a:r>
              <a:rPr lang="en-US" sz="1200" b="1" dirty="0">
                <a:solidFill>
                  <a:schemeClr val="accent1"/>
                </a:solidFill>
              </a:rPr>
              <a:t>write</a:t>
            </a:r>
            <a:endParaRPr lang="en-US" sz="1200" dirty="0"/>
          </a:p>
        </p:txBody>
      </p:sp>
      <p:sp>
        <p:nvSpPr>
          <p:cNvPr id="38" name="Text 36"/>
          <p:cNvSpPr txBox="1"/>
          <p:nvPr/>
        </p:nvSpPr>
        <p:spPr>
          <a:xfrm>
            <a:off x="8229600" y="2606040"/>
            <a:ext cx="731520" cy="274320"/>
          </a:xfrm>
          <a:prstGeom prst="rect">
            <a:avLst/>
          </a:prstGeom>
          <a:noFill/>
          <a:ln/>
        </p:spPr>
        <p:txBody>
          <a:bodyPr wrap="square" lIns="0" tIns="0" rIns="0" bIns="0" rtlCol="0" anchor="ctr"/>
          <a:lstStyle/>
          <a:p>
            <a:pPr marL="0" indent="0" algn="ctr">
              <a:buNone/>
            </a:pPr>
            <a:r>
              <a:rPr lang="en-US" sz="1200" b="1" dirty="0">
                <a:solidFill>
                  <a:schemeClr val="accent1"/>
                </a:solidFill>
              </a:rPr>
              <a:t>read</a:t>
            </a:r>
            <a:endParaRPr lang="en-US" sz="1200" dirty="0"/>
          </a:p>
        </p:txBody>
      </p:sp>
      <p:sp>
        <p:nvSpPr>
          <p:cNvPr id="39" name="Architecture explanation"/>
          <p:cNvSpPr/>
          <p:nvPr/>
        </p:nvSpPr>
        <p:spPr>
          <a:xfrm>
            <a:off x="548640" y="4846320"/>
            <a:ext cx="11064240" cy="1417320"/>
          </a:xfrm>
          <a:prstGeom prst="roundRect">
            <a:avLst>
              <a:gd name="adj" fmla="val 6452"/>
            </a:avLst>
          </a:prstGeom>
          <a:solidFill>
            <a:schemeClr val="bg1"/>
          </a:solidFill>
          <a:ln w="9525">
            <a:solidFill>
              <a:srgbClr val="D1D5DB"/>
            </a:solidFill>
            <a:prstDash val="solid"/>
          </a:ln>
          <a:effectLst>
            <a:outerShdw blurRad="76200" dist="25400" dir="5400000" algn="bl" rotWithShape="0">
              <a:srgbClr val="000000">
                <a:alpha val="10000"/>
              </a:srgbClr>
            </a:outerShdw>
          </a:effectLst>
        </p:spPr>
      </p:sp>
      <p:sp>
        <p:nvSpPr>
          <p:cNvPr id="40" name="Text 38"/>
          <p:cNvSpPr txBox="1"/>
          <p:nvPr/>
        </p:nvSpPr>
        <p:spPr>
          <a:xfrm>
            <a:off x="822960" y="4937760"/>
            <a:ext cx="5212080" cy="1234440"/>
          </a:xfrm>
          <a:prstGeom prst="rect">
            <a:avLst/>
          </a:prstGeom>
          <a:noFill/>
          <a:ln/>
        </p:spPr>
        <p:txBody>
          <a:bodyPr wrap="square" lIns="0" tIns="0" rIns="0" bIns="0" rtlCol="0" anchor="ctr"/>
          <a:lstStyle/>
          <a:p>
            <a:pPr marL="203200" indent="-203200">
              <a:spcAft>
                <a:spcPts val="600"/>
              </a:spcAft>
              <a:buSzPct val="100000"/>
              <a:buChar char="•"/>
            </a:pPr>
            <a:r>
              <a:rPr lang="en-US" sz="1500" dirty="0">
                <a:solidFill>
                  <a:schemeClr val="tx1"/>
                </a:solidFill>
              </a:rPr>
              <a:t>The producer writes a message into the shared memory.</a:t>
            </a:r>
            <a:endParaRPr lang="en-US" sz="1500" dirty="0"/>
          </a:p>
          <a:p>
            <a:pPr marL="203200" indent="-203200">
              <a:spcAft>
                <a:spcPts val="600"/>
              </a:spcAft>
              <a:buSzPct val="100000"/>
              <a:buChar char="•"/>
            </a:pPr>
            <a:r>
              <a:rPr lang="en-US" sz="1500" dirty="0">
                <a:solidFill>
                  <a:schemeClr val="tx1"/>
                </a:solidFill>
              </a:rPr>
              <a:t>The consumer reads the message from the same mapped region.</a:t>
            </a:r>
            <a:endParaRPr lang="en-US" sz="1500" dirty="0"/>
          </a:p>
        </p:txBody>
      </p:sp>
      <p:sp>
        <p:nvSpPr>
          <p:cNvPr id="41" name="Text 39"/>
          <p:cNvSpPr txBox="1"/>
          <p:nvPr/>
        </p:nvSpPr>
        <p:spPr>
          <a:xfrm>
            <a:off x="6309360" y="4937760"/>
            <a:ext cx="5120640" cy="1234440"/>
          </a:xfrm>
          <a:prstGeom prst="rect">
            <a:avLst/>
          </a:prstGeom>
          <a:noFill/>
          <a:ln/>
        </p:spPr>
        <p:txBody>
          <a:bodyPr wrap="square" lIns="0" tIns="0" rIns="0" bIns="0" rtlCol="0" anchor="ctr"/>
          <a:lstStyle/>
          <a:p>
            <a:pPr marL="203200" indent="-203200">
              <a:spcAft>
                <a:spcPts val="600"/>
              </a:spcAft>
              <a:buSzPct val="100000"/>
              <a:buChar char="•"/>
            </a:pPr>
            <a:r>
              <a:rPr lang="en-US" sz="1500" dirty="0">
                <a:solidFill>
                  <a:schemeClr val="tx1"/>
                </a:solidFill>
              </a:rPr>
              <a:t>Semaphores (empty, full) coordinate when writing and reading may occur.</a:t>
            </a:r>
            <a:endParaRPr lang="en-US" sz="1500" dirty="0"/>
          </a:p>
          <a:p>
            <a:pPr marL="203200" indent="-203200">
              <a:spcAft>
                <a:spcPts val="600"/>
              </a:spcAft>
              <a:buSzPct val="100000"/>
              <a:buChar char="•"/>
            </a:pPr>
            <a:r>
              <a:rPr lang="en-US" sz="1500" dirty="0">
                <a:solidFill>
                  <a:schemeClr val="tx1"/>
                </a:solidFill>
              </a:rPr>
              <a:t>A completion flag signals the end of communication.</a:t>
            </a:r>
            <a:endParaRPr lang="en-US" sz="1500" dirty="0"/>
          </a:p>
        </p:txBody>
      </p:sp>
      <p:sp>
        <p:nvSpPr>
          <p:cNvPr id="42" name="Slide Number Placeholder 0"/>
          <p:cNvSpPr>
            <a:spLocks noGrp="1"/>
          </p:cNvSpPr>
          <p:nvPr>
            <p:ph type="sldNum" sz="quarter" idx="4294967295"/>
          </p:nvPr>
        </p:nvSpPr>
        <p:spPr>
          <a:xfrm>
            <a:off x="10881360" y="6419088"/>
            <a:ext cx="75895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lIns="0" tIns="0" rIns="0" bIns="0" rtlCol="0" anchor="ctr"/>
          <a:lstStyle/>
          <a:p>
            <a:pPr marL="0" indent="0" algn="l">
              <a:buNone/>
            </a:pPr>
            <a:r>
              <a:rPr lang="en-US" sz="3200" b="1" dirty="0">
                <a:solidFill>
                  <a:schemeClr val="accent1"/>
                </a:solidFill>
              </a:rPr>
              <a:t>Technologies and Tools</a:t>
            </a:r>
            <a:endParaRPr lang="en-US" sz="3200" dirty="0"/>
          </a:p>
        </p:txBody>
      </p:sp>
      <p:sp>
        <p:nvSpPr>
          <p:cNvPr id="3" name="C Programming Language card"/>
          <p:cNvSpPr/>
          <p:nvPr/>
        </p:nvSpPr>
        <p:spPr>
          <a:xfrm>
            <a:off x="548640" y="1280160"/>
            <a:ext cx="3520440" cy="2514600"/>
          </a:xfrm>
          <a:prstGeom prst="roundRect">
            <a:avLst>
              <a:gd name="adj" fmla="val 3636"/>
            </a:avLst>
          </a:prstGeom>
          <a:solidFill>
            <a:schemeClr val="bg1"/>
          </a:solidFill>
          <a:ln w="9525">
            <a:solidFill>
              <a:srgbClr val="D1D5DB"/>
            </a:solidFill>
            <a:prstDash val="solid"/>
          </a:ln>
          <a:effectLst>
            <a:outerShdw blurRad="76200" dist="25400" dir="5400000" algn="bl" rotWithShape="0">
              <a:srgbClr val="000000">
                <a:alpha val="10000"/>
              </a:srgbClr>
            </a:outerShdw>
          </a:effectLst>
        </p:spPr>
      </p:sp>
      <p:sp>
        <p:nvSpPr>
          <p:cNvPr id="4" name="Icon circle"/>
          <p:cNvSpPr/>
          <p:nvPr/>
        </p:nvSpPr>
        <p:spPr>
          <a:xfrm>
            <a:off x="777240" y="1481328"/>
            <a:ext cx="548640" cy="548640"/>
          </a:xfrm>
          <a:prstGeom prst="ellipse">
            <a:avLst/>
          </a:prstGeom>
          <a:solidFill>
            <a:schemeClr val="accent2"/>
          </a:solidFill>
          <a:ln w="6350">
            <a:solidFill>
              <a:schemeClr val="accent2"/>
            </a:solidFill>
            <a:prstDash val="solid"/>
          </a:ln>
        </p:spPr>
      </p:sp>
      <p:pic>
        <p:nvPicPr>
          <p:cNvPr id="5" name="Image 0" descr="icon"/>
          <p:cNvPicPr>
            <a:picLocks noChangeAspect="1"/>
          </p:cNvPicPr>
          <p:nvPr/>
        </p:nvPicPr>
        <p:blipFill>
          <a:blip r:embed="rId3"/>
          <a:stretch>
            <a:fillRect/>
          </a:stretch>
        </p:blipFill>
        <p:spPr>
          <a:xfrm>
            <a:off x="930859" y="1634947"/>
            <a:ext cx="241402" cy="241402"/>
          </a:xfrm>
          <a:prstGeom prst="rect">
            <a:avLst/>
          </a:prstGeom>
        </p:spPr>
      </p:pic>
      <p:sp>
        <p:nvSpPr>
          <p:cNvPr id="6" name="Text 3"/>
          <p:cNvSpPr txBox="1"/>
          <p:nvPr/>
        </p:nvSpPr>
        <p:spPr>
          <a:xfrm>
            <a:off x="1463040" y="1481328"/>
            <a:ext cx="2423160" cy="548640"/>
          </a:xfrm>
          <a:prstGeom prst="rect">
            <a:avLst/>
          </a:prstGeom>
          <a:noFill/>
          <a:ln/>
        </p:spPr>
        <p:txBody>
          <a:bodyPr wrap="square" lIns="0" tIns="0" rIns="0" bIns="0" rtlCol="0" anchor="ctr"/>
          <a:lstStyle/>
          <a:p>
            <a:pPr marL="0" indent="0">
              <a:buNone/>
            </a:pPr>
            <a:r>
              <a:rPr lang="en-US" sz="1700" b="1" dirty="0">
                <a:solidFill>
                  <a:schemeClr val="accent1"/>
                </a:solidFill>
              </a:rPr>
              <a:t>C Programming Language</a:t>
            </a:r>
            <a:endParaRPr lang="en-US" sz="1700" dirty="0"/>
          </a:p>
        </p:txBody>
      </p:sp>
      <p:sp>
        <p:nvSpPr>
          <p:cNvPr id="7" name="Text 4"/>
          <p:cNvSpPr txBox="1"/>
          <p:nvPr/>
        </p:nvSpPr>
        <p:spPr>
          <a:xfrm>
            <a:off x="777240" y="2194560"/>
            <a:ext cx="3063240" cy="1508760"/>
          </a:xfrm>
          <a:prstGeom prst="rect">
            <a:avLst/>
          </a:prstGeom>
          <a:noFill/>
          <a:ln/>
        </p:spPr>
        <p:txBody>
          <a:bodyPr wrap="square" lIns="0" tIns="0" rIns="0" bIns="0" rtlCol="0" anchor="t"/>
          <a:lstStyle/>
          <a:p>
            <a:pPr marL="0" indent="0">
              <a:spcAft>
                <a:spcPts val="500"/>
              </a:spcAft>
              <a:buNone/>
            </a:pPr>
            <a:r>
              <a:rPr lang="en-US" sz="1600" dirty="0">
                <a:solidFill>
                  <a:schemeClr val="tx1"/>
                </a:solidFill>
              </a:rPr>
              <a:t>Implements process creation, shared data structures, and synchronization.</a:t>
            </a:r>
            <a:endParaRPr lang="en-US" sz="1600" dirty="0"/>
          </a:p>
        </p:txBody>
      </p:sp>
      <p:sp>
        <p:nvSpPr>
          <p:cNvPr id="8" name="Ubuntu Linux card"/>
          <p:cNvSpPr/>
          <p:nvPr/>
        </p:nvSpPr>
        <p:spPr>
          <a:xfrm>
            <a:off x="4343400" y="1280160"/>
            <a:ext cx="3520440" cy="2514600"/>
          </a:xfrm>
          <a:prstGeom prst="roundRect">
            <a:avLst>
              <a:gd name="adj" fmla="val 3636"/>
            </a:avLst>
          </a:prstGeom>
          <a:solidFill>
            <a:schemeClr val="bg1"/>
          </a:solidFill>
          <a:ln w="9525">
            <a:solidFill>
              <a:srgbClr val="D1D5DB"/>
            </a:solidFill>
            <a:prstDash val="solid"/>
          </a:ln>
          <a:effectLst>
            <a:outerShdw blurRad="76200" dist="25400" dir="5400000" algn="bl" rotWithShape="0">
              <a:srgbClr val="000000">
                <a:alpha val="10000"/>
              </a:srgbClr>
            </a:outerShdw>
          </a:effectLst>
        </p:spPr>
      </p:sp>
      <p:sp>
        <p:nvSpPr>
          <p:cNvPr id="9" name="Icon circle"/>
          <p:cNvSpPr/>
          <p:nvPr/>
        </p:nvSpPr>
        <p:spPr>
          <a:xfrm>
            <a:off x="4572000" y="1481328"/>
            <a:ext cx="548640" cy="548640"/>
          </a:xfrm>
          <a:prstGeom prst="ellipse">
            <a:avLst/>
          </a:prstGeom>
          <a:solidFill>
            <a:schemeClr val="accent2"/>
          </a:solidFill>
          <a:ln w="6350">
            <a:solidFill>
              <a:schemeClr val="accent2"/>
            </a:solidFill>
            <a:prstDash val="solid"/>
          </a:ln>
        </p:spPr>
      </p:sp>
      <p:pic>
        <p:nvPicPr>
          <p:cNvPr id="10" name="Image 1" descr="icon"/>
          <p:cNvPicPr>
            <a:picLocks noChangeAspect="1"/>
          </p:cNvPicPr>
          <p:nvPr/>
        </p:nvPicPr>
        <p:blipFill>
          <a:blip r:embed="rId4"/>
          <a:stretch>
            <a:fillRect/>
          </a:stretch>
        </p:blipFill>
        <p:spPr>
          <a:xfrm>
            <a:off x="4725619" y="1634947"/>
            <a:ext cx="241402" cy="241402"/>
          </a:xfrm>
          <a:prstGeom prst="rect">
            <a:avLst/>
          </a:prstGeom>
        </p:spPr>
      </p:pic>
      <p:sp>
        <p:nvSpPr>
          <p:cNvPr id="11" name="Text 7"/>
          <p:cNvSpPr txBox="1"/>
          <p:nvPr/>
        </p:nvSpPr>
        <p:spPr>
          <a:xfrm>
            <a:off x="5257800" y="1481328"/>
            <a:ext cx="2423160" cy="548640"/>
          </a:xfrm>
          <a:prstGeom prst="rect">
            <a:avLst/>
          </a:prstGeom>
          <a:noFill/>
          <a:ln/>
        </p:spPr>
        <p:txBody>
          <a:bodyPr wrap="square" lIns="0" tIns="0" rIns="0" bIns="0" rtlCol="0" anchor="ctr"/>
          <a:lstStyle/>
          <a:p>
            <a:pPr marL="0" indent="0">
              <a:buNone/>
            </a:pPr>
            <a:r>
              <a:rPr lang="en-US" sz="1700" b="1" dirty="0">
                <a:solidFill>
                  <a:schemeClr val="accent1"/>
                </a:solidFill>
              </a:rPr>
              <a:t>Ubuntu Linux</a:t>
            </a:r>
            <a:endParaRPr lang="en-US" sz="1700" dirty="0"/>
          </a:p>
        </p:txBody>
      </p:sp>
      <p:sp>
        <p:nvSpPr>
          <p:cNvPr id="12" name="Text 8"/>
          <p:cNvSpPr txBox="1"/>
          <p:nvPr/>
        </p:nvSpPr>
        <p:spPr>
          <a:xfrm>
            <a:off x="4572000" y="2194560"/>
            <a:ext cx="3063240" cy="1508760"/>
          </a:xfrm>
          <a:prstGeom prst="rect">
            <a:avLst/>
          </a:prstGeom>
          <a:noFill/>
          <a:ln/>
        </p:spPr>
        <p:txBody>
          <a:bodyPr wrap="square" lIns="0" tIns="0" rIns="0" bIns="0" rtlCol="0" anchor="t"/>
          <a:lstStyle/>
          <a:p>
            <a:pPr marL="0" indent="0">
              <a:spcAft>
                <a:spcPts val="500"/>
              </a:spcAft>
              <a:buNone/>
            </a:pPr>
            <a:r>
              <a:rPr lang="en-US" sz="1600" dirty="0">
                <a:solidFill>
                  <a:schemeClr val="tx1"/>
                </a:solidFill>
              </a:rPr>
              <a:t>Provides process management and POSIX inter-process communication facilities.</a:t>
            </a:r>
            <a:endParaRPr lang="en-US" sz="1600" dirty="0"/>
          </a:p>
        </p:txBody>
      </p:sp>
      <p:sp>
        <p:nvSpPr>
          <p:cNvPr id="13" name="POSIX Shared Memory card"/>
          <p:cNvSpPr/>
          <p:nvPr/>
        </p:nvSpPr>
        <p:spPr>
          <a:xfrm>
            <a:off x="8138160" y="1280160"/>
            <a:ext cx="3520440" cy="2514600"/>
          </a:xfrm>
          <a:prstGeom prst="roundRect">
            <a:avLst>
              <a:gd name="adj" fmla="val 3636"/>
            </a:avLst>
          </a:prstGeom>
          <a:solidFill>
            <a:schemeClr val="bg1"/>
          </a:solidFill>
          <a:ln w="9525">
            <a:solidFill>
              <a:srgbClr val="D1D5DB"/>
            </a:solidFill>
            <a:prstDash val="solid"/>
          </a:ln>
          <a:effectLst>
            <a:outerShdw blurRad="76200" dist="25400" dir="5400000" algn="bl" rotWithShape="0">
              <a:srgbClr val="000000">
                <a:alpha val="10000"/>
              </a:srgbClr>
            </a:outerShdw>
          </a:effectLst>
        </p:spPr>
      </p:sp>
      <p:sp>
        <p:nvSpPr>
          <p:cNvPr id="14" name="Icon circle"/>
          <p:cNvSpPr/>
          <p:nvPr/>
        </p:nvSpPr>
        <p:spPr>
          <a:xfrm>
            <a:off x="8366760" y="1481328"/>
            <a:ext cx="548640" cy="548640"/>
          </a:xfrm>
          <a:prstGeom prst="ellipse">
            <a:avLst/>
          </a:prstGeom>
          <a:solidFill>
            <a:schemeClr val="accent2"/>
          </a:solidFill>
          <a:ln w="6350">
            <a:solidFill>
              <a:schemeClr val="accent2"/>
            </a:solidFill>
            <a:prstDash val="solid"/>
          </a:ln>
        </p:spPr>
      </p:sp>
      <p:pic>
        <p:nvPicPr>
          <p:cNvPr id="15" name="Image 2" descr="icon"/>
          <p:cNvPicPr>
            <a:picLocks noChangeAspect="1"/>
          </p:cNvPicPr>
          <p:nvPr/>
        </p:nvPicPr>
        <p:blipFill>
          <a:blip r:embed="rId5"/>
          <a:stretch>
            <a:fillRect/>
          </a:stretch>
        </p:blipFill>
        <p:spPr>
          <a:xfrm>
            <a:off x="8520379" y="1634947"/>
            <a:ext cx="241402" cy="241402"/>
          </a:xfrm>
          <a:prstGeom prst="rect">
            <a:avLst/>
          </a:prstGeom>
        </p:spPr>
      </p:pic>
      <p:sp>
        <p:nvSpPr>
          <p:cNvPr id="16" name="Text 11"/>
          <p:cNvSpPr txBox="1"/>
          <p:nvPr/>
        </p:nvSpPr>
        <p:spPr>
          <a:xfrm>
            <a:off x="9052560" y="1481328"/>
            <a:ext cx="2423160" cy="548640"/>
          </a:xfrm>
          <a:prstGeom prst="rect">
            <a:avLst/>
          </a:prstGeom>
          <a:noFill/>
          <a:ln/>
        </p:spPr>
        <p:txBody>
          <a:bodyPr wrap="square" lIns="0" tIns="0" rIns="0" bIns="0" rtlCol="0" anchor="ctr"/>
          <a:lstStyle/>
          <a:p>
            <a:pPr marL="0" indent="0">
              <a:buNone/>
            </a:pPr>
            <a:r>
              <a:rPr lang="en-US" sz="1700" b="1" dirty="0">
                <a:solidFill>
                  <a:schemeClr val="accent1"/>
                </a:solidFill>
              </a:rPr>
              <a:t>POSIX Shared Memory</a:t>
            </a:r>
            <a:endParaRPr lang="en-US" sz="1700" dirty="0"/>
          </a:p>
        </p:txBody>
      </p:sp>
      <p:sp>
        <p:nvSpPr>
          <p:cNvPr id="17" name="Text 12"/>
          <p:cNvSpPr txBox="1"/>
          <p:nvPr/>
        </p:nvSpPr>
        <p:spPr>
          <a:xfrm>
            <a:off x="8366760" y="2194560"/>
            <a:ext cx="3063240" cy="1508760"/>
          </a:xfrm>
          <a:prstGeom prst="rect">
            <a:avLst/>
          </a:prstGeom>
          <a:noFill/>
          <a:ln/>
        </p:spPr>
        <p:txBody>
          <a:bodyPr wrap="square" lIns="0" tIns="0" rIns="0" bIns="0" rtlCol="0" anchor="t"/>
          <a:lstStyle/>
          <a:p>
            <a:pPr marL="0" indent="0">
              <a:spcAft>
                <a:spcPts val="500"/>
              </a:spcAft>
              <a:buNone/>
            </a:pPr>
            <a:r>
              <a:rPr lang="en-US" sz="1500" b="1" dirty="0">
                <a:solidFill>
                  <a:schemeClr val="accent1"/>
                </a:solidFill>
                <a:latin typeface="Consolas" pitchFamily="34" charset="0"/>
                <a:ea typeface="Consolas" pitchFamily="34" charset="-122"/>
                <a:cs typeface="Consolas" pitchFamily="34" charset="-120"/>
              </a:rPr>
              <a:t>shm_open()</a:t>
            </a:r>
            <a:r>
              <a:rPr lang="en-US" sz="1500" dirty="0">
                <a:solidFill>
                  <a:schemeClr val="tx1"/>
                </a:solidFill>
              </a:rPr>
              <a:t>  creates or opens the object</a:t>
            </a:r>
            <a:endParaRPr lang="en-US" sz="1500" dirty="0"/>
          </a:p>
          <a:p>
            <a:pPr marL="0" indent="0">
              <a:spcAft>
                <a:spcPts val="500"/>
              </a:spcAft>
              <a:buNone/>
            </a:pPr>
            <a:r>
              <a:rPr lang="en-US" sz="1500" b="1" dirty="0">
                <a:solidFill>
                  <a:schemeClr val="accent1"/>
                </a:solidFill>
                <a:latin typeface="Consolas" pitchFamily="34" charset="0"/>
                <a:ea typeface="Consolas" pitchFamily="34" charset="-122"/>
                <a:cs typeface="Consolas" pitchFamily="34" charset="-120"/>
              </a:rPr>
              <a:t>ftruncate()</a:t>
            </a:r>
            <a:r>
              <a:rPr lang="en-US" sz="1500" dirty="0">
                <a:solidFill>
                  <a:schemeClr val="tx1"/>
                </a:solidFill>
              </a:rPr>
              <a:t>  sets the object size</a:t>
            </a:r>
            <a:endParaRPr lang="en-US" sz="1500" dirty="0"/>
          </a:p>
          <a:p>
            <a:pPr marL="0" indent="0">
              <a:spcAft>
                <a:spcPts val="500"/>
              </a:spcAft>
              <a:buNone/>
            </a:pPr>
            <a:r>
              <a:rPr lang="en-US" sz="1500" b="1" dirty="0">
                <a:solidFill>
                  <a:schemeClr val="accent1"/>
                </a:solidFill>
                <a:latin typeface="Consolas" pitchFamily="34" charset="0"/>
                <a:ea typeface="Consolas" pitchFamily="34" charset="-122"/>
                <a:cs typeface="Consolas" pitchFamily="34" charset="-120"/>
              </a:rPr>
              <a:t>mmap()</a:t>
            </a:r>
            <a:r>
              <a:rPr lang="en-US" sz="1500" dirty="0">
                <a:solidFill>
                  <a:schemeClr val="tx1"/>
                </a:solidFill>
              </a:rPr>
              <a:t>  maps it into the address space</a:t>
            </a:r>
            <a:endParaRPr lang="en-US" sz="1500" dirty="0"/>
          </a:p>
        </p:txBody>
      </p:sp>
      <p:sp>
        <p:nvSpPr>
          <p:cNvPr id="18" name="POSIX Semaphores card"/>
          <p:cNvSpPr/>
          <p:nvPr/>
        </p:nvSpPr>
        <p:spPr>
          <a:xfrm>
            <a:off x="548640" y="4023360"/>
            <a:ext cx="5440680" cy="2240280"/>
          </a:xfrm>
          <a:prstGeom prst="roundRect">
            <a:avLst>
              <a:gd name="adj" fmla="val 4082"/>
            </a:avLst>
          </a:prstGeom>
          <a:solidFill>
            <a:schemeClr val="bg1"/>
          </a:solidFill>
          <a:ln w="9525">
            <a:solidFill>
              <a:srgbClr val="D1D5DB"/>
            </a:solidFill>
            <a:prstDash val="solid"/>
          </a:ln>
          <a:effectLst>
            <a:outerShdw blurRad="76200" dist="25400" dir="5400000" algn="bl" rotWithShape="0">
              <a:srgbClr val="000000">
                <a:alpha val="10000"/>
              </a:srgbClr>
            </a:outerShdw>
          </a:effectLst>
        </p:spPr>
      </p:sp>
      <p:sp>
        <p:nvSpPr>
          <p:cNvPr id="19" name="Icon circle"/>
          <p:cNvSpPr/>
          <p:nvPr/>
        </p:nvSpPr>
        <p:spPr>
          <a:xfrm>
            <a:off x="777240" y="4224528"/>
            <a:ext cx="548640" cy="548640"/>
          </a:xfrm>
          <a:prstGeom prst="ellipse">
            <a:avLst/>
          </a:prstGeom>
          <a:solidFill>
            <a:schemeClr val="accent2"/>
          </a:solidFill>
          <a:ln w="6350">
            <a:solidFill>
              <a:schemeClr val="accent2"/>
            </a:solidFill>
            <a:prstDash val="solid"/>
          </a:ln>
        </p:spPr>
      </p:sp>
      <p:pic>
        <p:nvPicPr>
          <p:cNvPr id="20" name="Image 3" descr="icon"/>
          <p:cNvPicPr>
            <a:picLocks noChangeAspect="1"/>
          </p:cNvPicPr>
          <p:nvPr/>
        </p:nvPicPr>
        <p:blipFill>
          <a:blip r:embed="rId6"/>
          <a:stretch>
            <a:fillRect/>
          </a:stretch>
        </p:blipFill>
        <p:spPr>
          <a:xfrm>
            <a:off x="930859" y="4378147"/>
            <a:ext cx="241402" cy="241402"/>
          </a:xfrm>
          <a:prstGeom prst="rect">
            <a:avLst/>
          </a:prstGeom>
        </p:spPr>
      </p:pic>
      <p:sp>
        <p:nvSpPr>
          <p:cNvPr id="21" name="Text 15"/>
          <p:cNvSpPr txBox="1"/>
          <p:nvPr/>
        </p:nvSpPr>
        <p:spPr>
          <a:xfrm>
            <a:off x="1463040" y="4224528"/>
            <a:ext cx="4343400" cy="548640"/>
          </a:xfrm>
          <a:prstGeom prst="rect">
            <a:avLst/>
          </a:prstGeom>
          <a:noFill/>
          <a:ln/>
        </p:spPr>
        <p:txBody>
          <a:bodyPr wrap="square" lIns="0" tIns="0" rIns="0" bIns="0" rtlCol="0" anchor="ctr"/>
          <a:lstStyle/>
          <a:p>
            <a:pPr marL="0" indent="0">
              <a:buNone/>
            </a:pPr>
            <a:r>
              <a:rPr lang="en-US" sz="1700" b="1" dirty="0">
                <a:solidFill>
                  <a:schemeClr val="accent1"/>
                </a:solidFill>
              </a:rPr>
              <a:t>POSIX Semaphores</a:t>
            </a:r>
            <a:endParaRPr lang="en-US" sz="1700" dirty="0"/>
          </a:p>
        </p:txBody>
      </p:sp>
      <p:sp>
        <p:nvSpPr>
          <p:cNvPr id="22" name="Text 16"/>
          <p:cNvSpPr txBox="1"/>
          <p:nvPr/>
        </p:nvSpPr>
        <p:spPr>
          <a:xfrm>
            <a:off x="777240" y="4937760"/>
            <a:ext cx="4983480" cy="1234440"/>
          </a:xfrm>
          <a:prstGeom prst="rect">
            <a:avLst/>
          </a:prstGeom>
          <a:noFill/>
          <a:ln/>
        </p:spPr>
        <p:txBody>
          <a:bodyPr wrap="square" lIns="0" tIns="0" rIns="0" bIns="0" rtlCol="0" anchor="t"/>
          <a:lstStyle/>
          <a:p>
            <a:pPr marL="0" indent="0">
              <a:spcAft>
                <a:spcPts val="500"/>
              </a:spcAft>
              <a:buNone/>
            </a:pPr>
            <a:r>
              <a:rPr lang="en-US" sz="1500" b="1" dirty="0">
                <a:solidFill>
                  <a:schemeClr val="accent1"/>
                </a:solidFill>
                <a:latin typeface="Consolas" pitchFamily="34" charset="0"/>
                <a:ea typeface="Consolas" pitchFamily="34" charset="-122"/>
                <a:cs typeface="Consolas" pitchFamily="34" charset="-120"/>
              </a:rPr>
              <a:t>sem_init()</a:t>
            </a:r>
            <a:r>
              <a:rPr lang="en-US" sz="1500" dirty="0">
                <a:solidFill>
                  <a:schemeClr val="tx1"/>
                </a:solidFill>
              </a:rPr>
              <a:t>  initializes process-shared semaphores</a:t>
            </a:r>
            <a:endParaRPr lang="en-US" sz="1500" dirty="0"/>
          </a:p>
          <a:p>
            <a:pPr marL="0" indent="0">
              <a:spcAft>
                <a:spcPts val="500"/>
              </a:spcAft>
              <a:buNone/>
            </a:pPr>
            <a:r>
              <a:rPr lang="en-US" sz="1500" b="1" dirty="0">
                <a:solidFill>
                  <a:schemeClr val="accent1"/>
                </a:solidFill>
                <a:latin typeface="Consolas" pitchFamily="34" charset="0"/>
                <a:ea typeface="Consolas" pitchFamily="34" charset="-122"/>
                <a:cs typeface="Consolas" pitchFamily="34" charset="-120"/>
              </a:rPr>
              <a:t>sem_wait()</a:t>
            </a:r>
            <a:r>
              <a:rPr lang="en-US" sz="1500" dirty="0">
                <a:solidFill>
                  <a:schemeClr val="tx1"/>
                </a:solidFill>
              </a:rPr>
              <a:t>  waits for permission to proceed</a:t>
            </a:r>
            <a:endParaRPr lang="en-US" sz="1500" dirty="0"/>
          </a:p>
          <a:p>
            <a:pPr marL="0" indent="0">
              <a:spcAft>
                <a:spcPts val="500"/>
              </a:spcAft>
              <a:buNone/>
            </a:pPr>
            <a:r>
              <a:rPr lang="en-US" sz="1500" b="1" dirty="0">
                <a:solidFill>
                  <a:schemeClr val="accent1"/>
                </a:solidFill>
                <a:latin typeface="Consolas" pitchFamily="34" charset="0"/>
                <a:ea typeface="Consolas" pitchFamily="34" charset="-122"/>
                <a:cs typeface="Consolas" pitchFamily="34" charset="-120"/>
              </a:rPr>
              <a:t>sem_post()</a:t>
            </a:r>
            <a:r>
              <a:rPr lang="en-US" sz="1500" dirty="0">
                <a:solidFill>
                  <a:schemeClr val="tx1"/>
                </a:solidFill>
              </a:rPr>
              <a:t>  signals an operation has completed</a:t>
            </a:r>
            <a:endParaRPr lang="en-US" sz="1500" dirty="0"/>
          </a:p>
        </p:txBody>
      </p:sp>
      <p:sp>
        <p:nvSpPr>
          <p:cNvPr id="23" name="Other Tools card"/>
          <p:cNvSpPr/>
          <p:nvPr/>
        </p:nvSpPr>
        <p:spPr>
          <a:xfrm>
            <a:off x="6217920" y="4023360"/>
            <a:ext cx="5440680" cy="2240280"/>
          </a:xfrm>
          <a:prstGeom prst="roundRect">
            <a:avLst>
              <a:gd name="adj" fmla="val 4082"/>
            </a:avLst>
          </a:prstGeom>
          <a:solidFill>
            <a:schemeClr val="bg1"/>
          </a:solidFill>
          <a:ln w="9525">
            <a:solidFill>
              <a:srgbClr val="D1D5DB"/>
            </a:solidFill>
            <a:prstDash val="solid"/>
          </a:ln>
          <a:effectLst>
            <a:outerShdw blurRad="76200" dist="25400" dir="5400000" algn="bl" rotWithShape="0">
              <a:srgbClr val="000000">
                <a:alpha val="10000"/>
              </a:srgbClr>
            </a:outerShdw>
          </a:effectLst>
        </p:spPr>
      </p:sp>
      <p:sp>
        <p:nvSpPr>
          <p:cNvPr id="24" name="Icon circle"/>
          <p:cNvSpPr/>
          <p:nvPr/>
        </p:nvSpPr>
        <p:spPr>
          <a:xfrm>
            <a:off x="6446520" y="4224528"/>
            <a:ext cx="548640" cy="548640"/>
          </a:xfrm>
          <a:prstGeom prst="ellipse">
            <a:avLst/>
          </a:prstGeom>
          <a:solidFill>
            <a:schemeClr val="accent2"/>
          </a:solidFill>
          <a:ln w="6350">
            <a:solidFill>
              <a:schemeClr val="accent2"/>
            </a:solidFill>
            <a:prstDash val="solid"/>
          </a:ln>
        </p:spPr>
      </p:sp>
      <p:pic>
        <p:nvPicPr>
          <p:cNvPr id="25" name="Image 4" descr="icon"/>
          <p:cNvPicPr>
            <a:picLocks noChangeAspect="1"/>
          </p:cNvPicPr>
          <p:nvPr/>
        </p:nvPicPr>
        <p:blipFill>
          <a:blip r:embed="rId7"/>
          <a:stretch>
            <a:fillRect/>
          </a:stretch>
        </p:blipFill>
        <p:spPr>
          <a:xfrm>
            <a:off x="6600139" y="4378147"/>
            <a:ext cx="241402" cy="241402"/>
          </a:xfrm>
          <a:prstGeom prst="rect">
            <a:avLst/>
          </a:prstGeom>
        </p:spPr>
      </p:pic>
      <p:sp>
        <p:nvSpPr>
          <p:cNvPr id="26" name="Text 19"/>
          <p:cNvSpPr txBox="1"/>
          <p:nvPr/>
        </p:nvSpPr>
        <p:spPr>
          <a:xfrm>
            <a:off x="7132320" y="4224528"/>
            <a:ext cx="4343400" cy="548640"/>
          </a:xfrm>
          <a:prstGeom prst="rect">
            <a:avLst/>
          </a:prstGeom>
          <a:noFill/>
          <a:ln/>
        </p:spPr>
        <p:txBody>
          <a:bodyPr wrap="square" lIns="0" tIns="0" rIns="0" bIns="0" rtlCol="0" anchor="ctr"/>
          <a:lstStyle/>
          <a:p>
            <a:pPr marL="0" indent="0">
              <a:buNone/>
            </a:pPr>
            <a:r>
              <a:rPr lang="en-US" sz="1700" b="1" dirty="0">
                <a:solidFill>
                  <a:schemeClr val="accent1"/>
                </a:solidFill>
              </a:rPr>
              <a:t>Other Tools</a:t>
            </a:r>
            <a:endParaRPr lang="en-US" sz="1700" dirty="0"/>
          </a:p>
        </p:txBody>
      </p:sp>
      <p:sp>
        <p:nvSpPr>
          <p:cNvPr id="27" name="Text 20"/>
          <p:cNvSpPr txBox="1"/>
          <p:nvPr/>
        </p:nvSpPr>
        <p:spPr>
          <a:xfrm>
            <a:off x="6446520" y="4937760"/>
            <a:ext cx="4983480" cy="1234440"/>
          </a:xfrm>
          <a:prstGeom prst="rect">
            <a:avLst/>
          </a:prstGeom>
          <a:noFill/>
          <a:ln/>
        </p:spPr>
        <p:txBody>
          <a:bodyPr wrap="square" lIns="0" tIns="0" rIns="0" bIns="0" rtlCol="0" anchor="t"/>
          <a:lstStyle/>
          <a:p>
            <a:pPr marL="0" indent="0">
              <a:spcAft>
                <a:spcPts val="500"/>
              </a:spcAft>
              <a:buNone/>
            </a:pPr>
            <a:r>
              <a:rPr lang="en-US" sz="1500" b="1" dirty="0">
                <a:solidFill>
                  <a:schemeClr val="accent1"/>
                </a:solidFill>
                <a:latin typeface="Consolas" pitchFamily="34" charset="0"/>
                <a:ea typeface="Consolas" pitchFamily="34" charset="-122"/>
                <a:cs typeface="Consolas" pitchFamily="34" charset="-120"/>
              </a:rPr>
              <a:t>fork()</a:t>
            </a:r>
            <a:r>
              <a:rPr lang="en-US" sz="1500" dirty="0">
                <a:solidFill>
                  <a:schemeClr val="tx1"/>
                </a:solidFill>
              </a:rPr>
              <a:t>  creates the consumer child process</a:t>
            </a:r>
            <a:endParaRPr lang="en-US" sz="1500" dirty="0"/>
          </a:p>
          <a:p>
            <a:pPr marL="0" indent="0">
              <a:spcAft>
                <a:spcPts val="500"/>
              </a:spcAft>
              <a:buNone/>
            </a:pPr>
            <a:r>
              <a:rPr lang="en-US" sz="1500" b="1" dirty="0">
                <a:solidFill>
                  <a:schemeClr val="accent1"/>
                </a:solidFill>
                <a:latin typeface="Consolas" pitchFamily="34" charset="0"/>
                <a:ea typeface="Consolas" pitchFamily="34" charset="-122"/>
                <a:cs typeface="Consolas" pitchFamily="34" charset="-120"/>
              </a:rPr>
              <a:t>GCC</a:t>
            </a:r>
            <a:r>
              <a:rPr lang="en-US" sz="1500" dirty="0">
                <a:solidFill>
                  <a:schemeClr val="tx1"/>
                </a:solidFill>
              </a:rPr>
              <a:t>  compiles the C program</a:t>
            </a:r>
            <a:endParaRPr lang="en-US" sz="1500" dirty="0"/>
          </a:p>
          <a:p>
            <a:pPr marL="0" indent="0">
              <a:spcAft>
                <a:spcPts val="500"/>
              </a:spcAft>
              <a:buNone/>
            </a:pPr>
            <a:r>
              <a:rPr lang="en-US" sz="1500" b="1" dirty="0">
                <a:solidFill>
                  <a:schemeClr val="accent1"/>
                </a:solidFill>
                <a:latin typeface="Consolas" pitchFamily="34" charset="0"/>
                <a:ea typeface="Consolas" pitchFamily="34" charset="-122"/>
                <a:cs typeface="Consolas" pitchFamily="34" charset="-120"/>
              </a:rPr>
              <a:t>Git / GitHub</a:t>
            </a:r>
            <a:r>
              <a:rPr lang="en-US" sz="1500" dirty="0">
                <a:solidFill>
                  <a:schemeClr val="tx1"/>
                </a:solidFill>
              </a:rPr>
              <a:t>  version control and code hosting</a:t>
            </a:r>
            <a:endParaRPr lang="en-US" sz="1500" dirty="0"/>
          </a:p>
        </p:txBody>
      </p:sp>
      <p:sp>
        <p:nvSpPr>
          <p:cNvPr id="28" name="Slide Number Placeholder 0"/>
          <p:cNvSpPr>
            <a:spLocks noGrp="1"/>
          </p:cNvSpPr>
          <p:nvPr>
            <p:ph type="sldNum" sz="quarter" idx="4294967295"/>
          </p:nvPr>
        </p:nvSpPr>
        <p:spPr>
          <a:xfrm>
            <a:off x="10881360" y="6419088"/>
            <a:ext cx="75895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lIns="0" tIns="0" rIns="0" bIns="0" rtlCol="0" anchor="ctr"/>
          <a:lstStyle/>
          <a:p>
            <a:pPr marL="0" indent="0" algn="l">
              <a:buNone/>
            </a:pPr>
            <a:r>
              <a:rPr lang="en-US" sz="3200" b="1" dirty="0">
                <a:solidFill>
                  <a:schemeClr val="accent1"/>
                </a:solidFill>
              </a:rPr>
              <a:t>Implementation Approach</a:t>
            </a:r>
            <a:endParaRPr lang="en-US" sz="3200" dirty="0"/>
          </a:p>
        </p:txBody>
      </p:sp>
      <p:sp>
        <p:nvSpPr>
          <p:cNvPr id="3" name="Step 1"/>
          <p:cNvSpPr/>
          <p:nvPr/>
        </p:nvSpPr>
        <p:spPr>
          <a:xfrm>
            <a:off x="548640" y="1280160"/>
            <a:ext cx="3383280" cy="1115568"/>
          </a:xfrm>
          <a:prstGeom prst="roundRect">
            <a:avLst>
              <a:gd name="adj" fmla="val 8197"/>
            </a:avLst>
          </a:prstGeom>
          <a:solidFill>
            <a:schemeClr val="bg1"/>
          </a:solidFill>
          <a:ln w="9525">
            <a:solidFill>
              <a:srgbClr val="D1D5DB"/>
            </a:solidFill>
            <a:prstDash val="solid"/>
          </a:ln>
          <a:effectLst>
            <a:outerShdw blurRad="76200" dist="25400" dir="5400000" algn="bl" rotWithShape="0">
              <a:srgbClr val="000000">
                <a:alpha val="10000"/>
              </a:srgbClr>
            </a:outerShdw>
          </a:effectLst>
        </p:spPr>
      </p:sp>
      <p:sp>
        <p:nvSpPr>
          <p:cNvPr id="4" name="Step number"/>
          <p:cNvSpPr/>
          <p:nvPr/>
        </p:nvSpPr>
        <p:spPr>
          <a:xfrm>
            <a:off x="685800" y="1563624"/>
            <a:ext cx="548640" cy="548640"/>
          </a:xfrm>
          <a:prstGeom prst="ellipse">
            <a:avLst/>
          </a:prstGeom>
          <a:solidFill>
            <a:schemeClr val="accent1"/>
          </a:solidFill>
          <a:ln w="6350">
            <a:solidFill>
              <a:schemeClr val="accent1"/>
            </a:solidFill>
            <a:prstDash val="solid"/>
          </a:ln>
        </p:spPr>
      </p:sp>
      <p:sp>
        <p:nvSpPr>
          <p:cNvPr id="5" name="Text 3"/>
          <p:cNvSpPr txBox="1"/>
          <p:nvPr/>
        </p:nvSpPr>
        <p:spPr>
          <a:xfrm>
            <a:off x="685800" y="1563624"/>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6" name="Text 4"/>
          <p:cNvSpPr txBox="1"/>
          <p:nvPr/>
        </p:nvSpPr>
        <p:spPr>
          <a:xfrm>
            <a:off x="1371600" y="1353312"/>
            <a:ext cx="2468880" cy="969264"/>
          </a:xfrm>
          <a:prstGeom prst="rect">
            <a:avLst/>
          </a:prstGeom>
          <a:noFill/>
          <a:ln/>
        </p:spPr>
        <p:txBody>
          <a:bodyPr wrap="square" lIns="0" tIns="0" rIns="0" bIns="0" rtlCol="0" anchor="ctr"/>
          <a:lstStyle/>
          <a:p>
            <a:pPr marL="0" indent="0">
              <a:buNone/>
            </a:pPr>
            <a:r>
              <a:rPr lang="en-US" sz="1500" b="1" dirty="0">
                <a:solidFill>
                  <a:schemeClr val="accent1"/>
                </a:solidFill>
                <a:latin typeface="Consolas" pitchFamily="34" charset="0"/>
                <a:ea typeface="Consolas" pitchFamily="34" charset="-122"/>
                <a:cs typeface="Consolas" pitchFamily="34" charset="-120"/>
              </a:rPr>
              <a:t>shm_open()</a:t>
            </a:r>
            <a:endParaRPr lang="en-US" sz="1500" dirty="0"/>
          </a:p>
          <a:p>
            <a:pPr marL="0" indent="0">
              <a:buNone/>
            </a:pPr>
            <a:r>
              <a:rPr lang="en-US" sz="1400" dirty="0">
                <a:solidFill>
                  <a:schemeClr val="tx1"/>
                </a:solidFill>
              </a:rPr>
              <a:t>Create the shared memory object.</a:t>
            </a:r>
            <a:endParaRPr lang="en-US" sz="1500" dirty="0"/>
          </a:p>
        </p:txBody>
      </p:sp>
      <p:sp>
        <p:nvSpPr>
          <p:cNvPr id="7" name="Step 2"/>
          <p:cNvSpPr/>
          <p:nvPr/>
        </p:nvSpPr>
        <p:spPr>
          <a:xfrm>
            <a:off x="548640" y="2532888"/>
            <a:ext cx="3383280" cy="1115568"/>
          </a:xfrm>
          <a:prstGeom prst="roundRect">
            <a:avLst>
              <a:gd name="adj" fmla="val 8197"/>
            </a:avLst>
          </a:prstGeom>
          <a:solidFill>
            <a:schemeClr val="bg1"/>
          </a:solidFill>
          <a:ln w="9525">
            <a:solidFill>
              <a:srgbClr val="D1D5DB"/>
            </a:solidFill>
            <a:prstDash val="solid"/>
          </a:ln>
          <a:effectLst>
            <a:outerShdw blurRad="76200" dist="25400" dir="5400000" algn="bl" rotWithShape="0">
              <a:srgbClr val="000000">
                <a:alpha val="10000"/>
              </a:srgbClr>
            </a:outerShdw>
          </a:effectLst>
        </p:spPr>
      </p:sp>
      <p:sp>
        <p:nvSpPr>
          <p:cNvPr id="8" name="Step number"/>
          <p:cNvSpPr/>
          <p:nvPr/>
        </p:nvSpPr>
        <p:spPr>
          <a:xfrm>
            <a:off x="685800" y="2816352"/>
            <a:ext cx="548640" cy="548640"/>
          </a:xfrm>
          <a:prstGeom prst="ellipse">
            <a:avLst/>
          </a:prstGeom>
          <a:solidFill>
            <a:schemeClr val="accent1"/>
          </a:solidFill>
          <a:ln w="6350">
            <a:solidFill>
              <a:schemeClr val="accent1"/>
            </a:solidFill>
            <a:prstDash val="solid"/>
          </a:ln>
        </p:spPr>
      </p:sp>
      <p:sp>
        <p:nvSpPr>
          <p:cNvPr id="9" name="Text 7"/>
          <p:cNvSpPr txBox="1"/>
          <p:nvPr/>
        </p:nvSpPr>
        <p:spPr>
          <a:xfrm>
            <a:off x="685800" y="2816352"/>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0" name="Text 8"/>
          <p:cNvSpPr txBox="1"/>
          <p:nvPr/>
        </p:nvSpPr>
        <p:spPr>
          <a:xfrm>
            <a:off x="1371600" y="2606040"/>
            <a:ext cx="2468880" cy="969264"/>
          </a:xfrm>
          <a:prstGeom prst="rect">
            <a:avLst/>
          </a:prstGeom>
          <a:noFill/>
          <a:ln/>
        </p:spPr>
        <p:txBody>
          <a:bodyPr wrap="square" lIns="0" tIns="0" rIns="0" bIns="0" rtlCol="0" anchor="ctr"/>
          <a:lstStyle/>
          <a:p>
            <a:pPr marL="0" indent="0">
              <a:buNone/>
            </a:pPr>
            <a:r>
              <a:rPr lang="en-US" sz="1500" b="1" dirty="0">
                <a:solidFill>
                  <a:schemeClr val="accent1"/>
                </a:solidFill>
                <a:latin typeface="Consolas" pitchFamily="34" charset="0"/>
                <a:ea typeface="Consolas" pitchFamily="34" charset="-122"/>
                <a:cs typeface="Consolas" pitchFamily="34" charset="-120"/>
              </a:rPr>
              <a:t>ftruncate()</a:t>
            </a:r>
            <a:endParaRPr lang="en-US" sz="1500" dirty="0"/>
          </a:p>
          <a:p>
            <a:pPr marL="0" indent="0">
              <a:buNone/>
            </a:pPr>
            <a:r>
              <a:rPr lang="en-US" sz="1400" dirty="0">
                <a:solidFill>
                  <a:schemeClr val="tx1"/>
                </a:solidFill>
              </a:rPr>
              <a:t>Allocate the required size.</a:t>
            </a:r>
            <a:endParaRPr lang="en-US" sz="1500" dirty="0"/>
          </a:p>
        </p:txBody>
      </p:sp>
      <p:sp>
        <p:nvSpPr>
          <p:cNvPr id="11" name="Step 3"/>
          <p:cNvSpPr/>
          <p:nvPr/>
        </p:nvSpPr>
        <p:spPr>
          <a:xfrm>
            <a:off x="548640" y="3785616"/>
            <a:ext cx="3383280" cy="1115568"/>
          </a:xfrm>
          <a:prstGeom prst="roundRect">
            <a:avLst>
              <a:gd name="adj" fmla="val 8197"/>
            </a:avLst>
          </a:prstGeom>
          <a:solidFill>
            <a:schemeClr val="bg1"/>
          </a:solidFill>
          <a:ln w="9525">
            <a:solidFill>
              <a:srgbClr val="D1D5DB"/>
            </a:solidFill>
            <a:prstDash val="solid"/>
          </a:ln>
          <a:effectLst>
            <a:outerShdw blurRad="76200" dist="25400" dir="5400000" algn="bl" rotWithShape="0">
              <a:srgbClr val="000000">
                <a:alpha val="10000"/>
              </a:srgbClr>
            </a:outerShdw>
          </a:effectLst>
        </p:spPr>
      </p:sp>
      <p:sp>
        <p:nvSpPr>
          <p:cNvPr id="12" name="Step number"/>
          <p:cNvSpPr/>
          <p:nvPr/>
        </p:nvSpPr>
        <p:spPr>
          <a:xfrm>
            <a:off x="685800" y="4069080"/>
            <a:ext cx="548640" cy="548640"/>
          </a:xfrm>
          <a:prstGeom prst="ellipse">
            <a:avLst/>
          </a:prstGeom>
          <a:solidFill>
            <a:schemeClr val="accent1"/>
          </a:solidFill>
          <a:ln w="6350">
            <a:solidFill>
              <a:schemeClr val="accent1"/>
            </a:solidFill>
            <a:prstDash val="solid"/>
          </a:ln>
        </p:spPr>
      </p:sp>
      <p:sp>
        <p:nvSpPr>
          <p:cNvPr id="13" name="Text 11"/>
          <p:cNvSpPr txBox="1"/>
          <p:nvPr/>
        </p:nvSpPr>
        <p:spPr>
          <a:xfrm>
            <a:off x="685800" y="406908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4" name="Text 12"/>
          <p:cNvSpPr txBox="1"/>
          <p:nvPr/>
        </p:nvSpPr>
        <p:spPr>
          <a:xfrm>
            <a:off x="1371600" y="3858768"/>
            <a:ext cx="2468880" cy="969264"/>
          </a:xfrm>
          <a:prstGeom prst="rect">
            <a:avLst/>
          </a:prstGeom>
          <a:noFill/>
          <a:ln/>
        </p:spPr>
        <p:txBody>
          <a:bodyPr wrap="square" lIns="0" tIns="0" rIns="0" bIns="0" rtlCol="0" anchor="ctr"/>
          <a:lstStyle/>
          <a:p>
            <a:pPr marL="0" indent="0">
              <a:buNone/>
            </a:pPr>
            <a:r>
              <a:rPr lang="en-US" sz="1500" b="1" dirty="0">
                <a:solidFill>
                  <a:schemeClr val="accent1"/>
                </a:solidFill>
                <a:latin typeface="Consolas" pitchFamily="34" charset="0"/>
                <a:ea typeface="Consolas" pitchFamily="34" charset="-122"/>
                <a:cs typeface="Consolas" pitchFamily="34" charset="-120"/>
              </a:rPr>
              <a:t>mmap()</a:t>
            </a:r>
            <a:endParaRPr lang="en-US" sz="1500" dirty="0"/>
          </a:p>
          <a:p>
            <a:pPr marL="0" indent="0">
              <a:buNone/>
            </a:pPr>
            <a:r>
              <a:rPr lang="en-US" sz="1400" dirty="0">
                <a:solidFill>
                  <a:schemeClr val="tx1"/>
                </a:solidFill>
              </a:rPr>
              <a:t>Map the memory into the address space.</a:t>
            </a:r>
            <a:endParaRPr lang="en-US" sz="1500" dirty="0"/>
          </a:p>
        </p:txBody>
      </p:sp>
      <p:sp>
        <p:nvSpPr>
          <p:cNvPr id="15" name="Step 4"/>
          <p:cNvSpPr/>
          <p:nvPr/>
        </p:nvSpPr>
        <p:spPr>
          <a:xfrm>
            <a:off x="548640" y="5038344"/>
            <a:ext cx="3383280" cy="1115568"/>
          </a:xfrm>
          <a:prstGeom prst="roundRect">
            <a:avLst>
              <a:gd name="adj" fmla="val 8197"/>
            </a:avLst>
          </a:prstGeom>
          <a:solidFill>
            <a:schemeClr val="bg1"/>
          </a:solidFill>
          <a:ln w="9525">
            <a:solidFill>
              <a:srgbClr val="D1D5DB"/>
            </a:solidFill>
            <a:prstDash val="solid"/>
          </a:ln>
          <a:effectLst>
            <a:outerShdw blurRad="76200" dist="25400" dir="5400000" algn="bl" rotWithShape="0">
              <a:srgbClr val="000000">
                <a:alpha val="10000"/>
              </a:srgbClr>
            </a:outerShdw>
          </a:effectLst>
        </p:spPr>
      </p:sp>
      <p:sp>
        <p:nvSpPr>
          <p:cNvPr id="16" name="Step number"/>
          <p:cNvSpPr/>
          <p:nvPr/>
        </p:nvSpPr>
        <p:spPr>
          <a:xfrm>
            <a:off x="685800" y="5321808"/>
            <a:ext cx="548640" cy="548640"/>
          </a:xfrm>
          <a:prstGeom prst="ellipse">
            <a:avLst/>
          </a:prstGeom>
          <a:solidFill>
            <a:schemeClr val="accent1"/>
          </a:solidFill>
          <a:ln w="6350">
            <a:solidFill>
              <a:schemeClr val="accent1"/>
            </a:solidFill>
            <a:prstDash val="solid"/>
          </a:ln>
        </p:spPr>
      </p:sp>
      <p:sp>
        <p:nvSpPr>
          <p:cNvPr id="17" name="Text 15"/>
          <p:cNvSpPr txBox="1"/>
          <p:nvPr/>
        </p:nvSpPr>
        <p:spPr>
          <a:xfrm>
            <a:off x="685800" y="5321808"/>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18" name="Text 16"/>
          <p:cNvSpPr txBox="1"/>
          <p:nvPr/>
        </p:nvSpPr>
        <p:spPr>
          <a:xfrm>
            <a:off x="1371600" y="5111496"/>
            <a:ext cx="2468880" cy="969264"/>
          </a:xfrm>
          <a:prstGeom prst="rect">
            <a:avLst/>
          </a:prstGeom>
          <a:noFill/>
          <a:ln/>
        </p:spPr>
        <p:txBody>
          <a:bodyPr wrap="square" lIns="0" tIns="0" rIns="0" bIns="0" rtlCol="0" anchor="ctr"/>
          <a:lstStyle/>
          <a:p>
            <a:pPr marL="0" indent="0">
              <a:buNone/>
            </a:pPr>
            <a:r>
              <a:rPr lang="en-US" sz="1500" b="1" dirty="0">
                <a:solidFill>
                  <a:schemeClr val="accent1"/>
                </a:solidFill>
              </a:rPr>
              <a:t>Initialize</a:t>
            </a:r>
            <a:endParaRPr lang="en-US" sz="1500" dirty="0"/>
          </a:p>
          <a:p>
            <a:pPr marL="0" indent="0">
              <a:buNone/>
            </a:pPr>
            <a:r>
              <a:rPr lang="en-US" sz="1400" dirty="0">
                <a:solidFill>
                  <a:schemeClr val="tx1"/>
                </a:solidFill>
              </a:rPr>
              <a:t>Set empty = 1 and full = 0.</a:t>
            </a:r>
            <a:endParaRPr lang="en-US" sz="1500" dirty="0"/>
          </a:p>
        </p:txBody>
      </p:sp>
      <p:sp>
        <p:nvSpPr>
          <p:cNvPr id="19" name="Step 5"/>
          <p:cNvSpPr/>
          <p:nvPr/>
        </p:nvSpPr>
        <p:spPr>
          <a:xfrm>
            <a:off x="4160520" y="1280160"/>
            <a:ext cx="3383280" cy="1115568"/>
          </a:xfrm>
          <a:prstGeom prst="roundRect">
            <a:avLst>
              <a:gd name="adj" fmla="val 8197"/>
            </a:avLst>
          </a:prstGeom>
          <a:solidFill>
            <a:schemeClr val="bg1"/>
          </a:solidFill>
          <a:ln w="9525">
            <a:solidFill>
              <a:srgbClr val="D1D5DB"/>
            </a:solidFill>
            <a:prstDash val="solid"/>
          </a:ln>
          <a:effectLst>
            <a:outerShdw blurRad="76200" dist="25400" dir="5400000" algn="bl" rotWithShape="0">
              <a:srgbClr val="000000">
                <a:alpha val="10000"/>
              </a:srgbClr>
            </a:outerShdw>
          </a:effectLst>
        </p:spPr>
      </p:sp>
      <p:sp>
        <p:nvSpPr>
          <p:cNvPr id="20" name="Step number"/>
          <p:cNvSpPr/>
          <p:nvPr/>
        </p:nvSpPr>
        <p:spPr>
          <a:xfrm>
            <a:off x="4297680" y="1563624"/>
            <a:ext cx="548640" cy="548640"/>
          </a:xfrm>
          <a:prstGeom prst="ellipse">
            <a:avLst/>
          </a:prstGeom>
          <a:solidFill>
            <a:schemeClr val="accent1"/>
          </a:solidFill>
          <a:ln w="6350">
            <a:solidFill>
              <a:schemeClr val="accent1"/>
            </a:solidFill>
            <a:prstDash val="solid"/>
          </a:ln>
        </p:spPr>
      </p:sp>
      <p:sp>
        <p:nvSpPr>
          <p:cNvPr id="21" name="Text 19"/>
          <p:cNvSpPr txBox="1"/>
          <p:nvPr/>
        </p:nvSpPr>
        <p:spPr>
          <a:xfrm>
            <a:off x="4297680" y="1563624"/>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5</a:t>
            </a:r>
            <a:endParaRPr lang="en-US" sz="1800" dirty="0"/>
          </a:p>
        </p:txBody>
      </p:sp>
      <p:sp>
        <p:nvSpPr>
          <p:cNvPr id="22" name="Text 20"/>
          <p:cNvSpPr txBox="1"/>
          <p:nvPr/>
        </p:nvSpPr>
        <p:spPr>
          <a:xfrm>
            <a:off x="4983480" y="1353312"/>
            <a:ext cx="2468880" cy="969264"/>
          </a:xfrm>
          <a:prstGeom prst="rect">
            <a:avLst/>
          </a:prstGeom>
          <a:noFill/>
          <a:ln/>
        </p:spPr>
        <p:txBody>
          <a:bodyPr wrap="square" lIns="0" tIns="0" rIns="0" bIns="0" rtlCol="0" anchor="ctr"/>
          <a:lstStyle/>
          <a:p>
            <a:pPr marL="0" indent="0">
              <a:buNone/>
            </a:pPr>
            <a:r>
              <a:rPr lang="en-US" sz="1500" b="1" dirty="0">
                <a:solidFill>
                  <a:schemeClr val="accent1"/>
                </a:solidFill>
                <a:latin typeface="Consolas" pitchFamily="34" charset="0"/>
                <a:ea typeface="Consolas" pitchFamily="34" charset="-122"/>
                <a:cs typeface="Consolas" pitchFamily="34" charset="-120"/>
              </a:rPr>
              <a:t>fork()</a:t>
            </a:r>
            <a:endParaRPr lang="en-US" sz="1500" dirty="0"/>
          </a:p>
          <a:p>
            <a:pPr marL="0" indent="0">
              <a:buNone/>
            </a:pPr>
            <a:r>
              <a:rPr lang="en-US" sz="1400" dirty="0">
                <a:solidFill>
                  <a:schemeClr val="tx1"/>
                </a:solidFill>
              </a:rPr>
              <a:t>Create the consumer process.</a:t>
            </a:r>
            <a:endParaRPr lang="en-US" sz="1500" dirty="0"/>
          </a:p>
        </p:txBody>
      </p:sp>
      <p:sp>
        <p:nvSpPr>
          <p:cNvPr id="23" name="Step 6"/>
          <p:cNvSpPr/>
          <p:nvPr/>
        </p:nvSpPr>
        <p:spPr>
          <a:xfrm>
            <a:off x="4160520" y="2532888"/>
            <a:ext cx="3383280" cy="1115568"/>
          </a:xfrm>
          <a:prstGeom prst="roundRect">
            <a:avLst>
              <a:gd name="adj" fmla="val 8197"/>
            </a:avLst>
          </a:prstGeom>
          <a:solidFill>
            <a:schemeClr val="bg1"/>
          </a:solidFill>
          <a:ln w="9525">
            <a:solidFill>
              <a:srgbClr val="D1D5DB"/>
            </a:solidFill>
            <a:prstDash val="solid"/>
          </a:ln>
          <a:effectLst>
            <a:outerShdw blurRad="76200" dist="25400" dir="5400000" algn="bl" rotWithShape="0">
              <a:srgbClr val="000000">
                <a:alpha val="10000"/>
              </a:srgbClr>
            </a:outerShdw>
          </a:effectLst>
        </p:spPr>
      </p:sp>
      <p:sp>
        <p:nvSpPr>
          <p:cNvPr id="24" name="Step number"/>
          <p:cNvSpPr/>
          <p:nvPr/>
        </p:nvSpPr>
        <p:spPr>
          <a:xfrm>
            <a:off x="4297680" y="2816352"/>
            <a:ext cx="548640" cy="548640"/>
          </a:xfrm>
          <a:prstGeom prst="ellipse">
            <a:avLst/>
          </a:prstGeom>
          <a:solidFill>
            <a:schemeClr val="accent1"/>
          </a:solidFill>
          <a:ln w="6350">
            <a:solidFill>
              <a:schemeClr val="accent1"/>
            </a:solidFill>
            <a:prstDash val="solid"/>
          </a:ln>
        </p:spPr>
      </p:sp>
      <p:sp>
        <p:nvSpPr>
          <p:cNvPr id="25" name="Text 23"/>
          <p:cNvSpPr txBox="1"/>
          <p:nvPr/>
        </p:nvSpPr>
        <p:spPr>
          <a:xfrm>
            <a:off x="4297680" y="2816352"/>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6</a:t>
            </a:r>
            <a:endParaRPr lang="en-US" sz="1800" dirty="0"/>
          </a:p>
        </p:txBody>
      </p:sp>
      <p:sp>
        <p:nvSpPr>
          <p:cNvPr id="26" name="Text 24"/>
          <p:cNvSpPr txBox="1"/>
          <p:nvPr/>
        </p:nvSpPr>
        <p:spPr>
          <a:xfrm>
            <a:off x="4983480" y="2606040"/>
            <a:ext cx="2468880" cy="969264"/>
          </a:xfrm>
          <a:prstGeom prst="rect">
            <a:avLst/>
          </a:prstGeom>
          <a:noFill/>
          <a:ln/>
        </p:spPr>
        <p:txBody>
          <a:bodyPr wrap="square" lIns="0" tIns="0" rIns="0" bIns="0" rtlCol="0" anchor="ctr"/>
          <a:lstStyle/>
          <a:p>
            <a:pPr marL="0" indent="0">
              <a:buNone/>
            </a:pPr>
            <a:r>
              <a:rPr lang="en-US" sz="1500" b="1" dirty="0">
                <a:solidFill>
                  <a:schemeClr val="accent1"/>
                </a:solidFill>
              </a:rPr>
              <a:t>Producer</a:t>
            </a:r>
            <a:endParaRPr lang="en-US" sz="1500" dirty="0"/>
          </a:p>
          <a:p>
            <a:pPr marL="0" indent="0">
              <a:buNone/>
            </a:pPr>
            <a:r>
              <a:rPr lang="en-US" sz="1400" dirty="0">
                <a:solidFill>
                  <a:schemeClr val="tx1"/>
                </a:solidFill>
              </a:rPr>
              <a:t>Waits for an empty slot, writes a message, signals full.</a:t>
            </a:r>
            <a:endParaRPr lang="en-US" sz="1500" dirty="0"/>
          </a:p>
        </p:txBody>
      </p:sp>
      <p:sp>
        <p:nvSpPr>
          <p:cNvPr id="27" name="Step 7"/>
          <p:cNvSpPr/>
          <p:nvPr/>
        </p:nvSpPr>
        <p:spPr>
          <a:xfrm>
            <a:off x="4160520" y="3785616"/>
            <a:ext cx="3383280" cy="1115568"/>
          </a:xfrm>
          <a:prstGeom prst="roundRect">
            <a:avLst>
              <a:gd name="adj" fmla="val 8197"/>
            </a:avLst>
          </a:prstGeom>
          <a:solidFill>
            <a:schemeClr val="bg1"/>
          </a:solidFill>
          <a:ln w="9525">
            <a:solidFill>
              <a:srgbClr val="D1D5DB"/>
            </a:solidFill>
            <a:prstDash val="solid"/>
          </a:ln>
          <a:effectLst>
            <a:outerShdw blurRad="76200" dist="25400" dir="5400000" algn="bl" rotWithShape="0">
              <a:srgbClr val="000000">
                <a:alpha val="10000"/>
              </a:srgbClr>
            </a:outerShdw>
          </a:effectLst>
        </p:spPr>
      </p:sp>
      <p:sp>
        <p:nvSpPr>
          <p:cNvPr id="28" name="Step number"/>
          <p:cNvSpPr/>
          <p:nvPr/>
        </p:nvSpPr>
        <p:spPr>
          <a:xfrm>
            <a:off x="4297680" y="4069080"/>
            <a:ext cx="548640" cy="548640"/>
          </a:xfrm>
          <a:prstGeom prst="ellipse">
            <a:avLst/>
          </a:prstGeom>
          <a:solidFill>
            <a:schemeClr val="accent1"/>
          </a:solidFill>
          <a:ln w="6350">
            <a:solidFill>
              <a:schemeClr val="accent1"/>
            </a:solidFill>
            <a:prstDash val="solid"/>
          </a:ln>
        </p:spPr>
      </p:sp>
      <p:sp>
        <p:nvSpPr>
          <p:cNvPr id="29" name="Text 27"/>
          <p:cNvSpPr txBox="1"/>
          <p:nvPr/>
        </p:nvSpPr>
        <p:spPr>
          <a:xfrm>
            <a:off x="4297680" y="406908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7</a:t>
            </a:r>
            <a:endParaRPr lang="en-US" sz="1800" dirty="0"/>
          </a:p>
        </p:txBody>
      </p:sp>
      <p:sp>
        <p:nvSpPr>
          <p:cNvPr id="30" name="Text 28"/>
          <p:cNvSpPr txBox="1"/>
          <p:nvPr/>
        </p:nvSpPr>
        <p:spPr>
          <a:xfrm>
            <a:off x="4983480" y="3858768"/>
            <a:ext cx="2468880" cy="969264"/>
          </a:xfrm>
          <a:prstGeom prst="rect">
            <a:avLst/>
          </a:prstGeom>
          <a:noFill/>
          <a:ln/>
        </p:spPr>
        <p:txBody>
          <a:bodyPr wrap="square" lIns="0" tIns="0" rIns="0" bIns="0" rtlCol="0" anchor="ctr"/>
          <a:lstStyle/>
          <a:p>
            <a:pPr marL="0" indent="0">
              <a:buNone/>
            </a:pPr>
            <a:r>
              <a:rPr lang="en-US" sz="1500" b="1" dirty="0">
                <a:solidFill>
                  <a:schemeClr val="accent1"/>
                </a:solidFill>
              </a:rPr>
              <a:t>Consumer</a:t>
            </a:r>
            <a:endParaRPr lang="en-US" sz="1500" dirty="0"/>
          </a:p>
          <a:p>
            <a:pPr marL="0" indent="0">
              <a:buNone/>
            </a:pPr>
            <a:r>
              <a:rPr lang="en-US" sz="1400" dirty="0">
                <a:solidFill>
                  <a:schemeClr val="tx1"/>
                </a:solidFill>
              </a:rPr>
              <a:t>Waits for a message, reads it, signals empty.</a:t>
            </a:r>
            <a:endParaRPr lang="en-US" sz="1500" dirty="0"/>
          </a:p>
        </p:txBody>
      </p:sp>
      <p:sp>
        <p:nvSpPr>
          <p:cNvPr id="31" name="Step 8"/>
          <p:cNvSpPr/>
          <p:nvPr/>
        </p:nvSpPr>
        <p:spPr>
          <a:xfrm>
            <a:off x="4160520" y="5038344"/>
            <a:ext cx="3383280" cy="1115568"/>
          </a:xfrm>
          <a:prstGeom prst="roundRect">
            <a:avLst>
              <a:gd name="adj" fmla="val 8197"/>
            </a:avLst>
          </a:prstGeom>
          <a:solidFill>
            <a:schemeClr val="bg1"/>
          </a:solidFill>
          <a:ln w="9525">
            <a:solidFill>
              <a:srgbClr val="D1D5DB"/>
            </a:solidFill>
            <a:prstDash val="solid"/>
          </a:ln>
          <a:effectLst>
            <a:outerShdw blurRad="76200" dist="25400" dir="5400000" algn="bl" rotWithShape="0">
              <a:srgbClr val="000000">
                <a:alpha val="10000"/>
              </a:srgbClr>
            </a:outerShdw>
          </a:effectLst>
        </p:spPr>
      </p:sp>
      <p:sp>
        <p:nvSpPr>
          <p:cNvPr id="32" name="Step number"/>
          <p:cNvSpPr/>
          <p:nvPr/>
        </p:nvSpPr>
        <p:spPr>
          <a:xfrm>
            <a:off x="4297680" y="5321808"/>
            <a:ext cx="548640" cy="548640"/>
          </a:xfrm>
          <a:prstGeom prst="ellipse">
            <a:avLst/>
          </a:prstGeom>
          <a:solidFill>
            <a:schemeClr val="accent1"/>
          </a:solidFill>
          <a:ln w="6350">
            <a:solidFill>
              <a:schemeClr val="accent1"/>
            </a:solidFill>
            <a:prstDash val="solid"/>
          </a:ln>
        </p:spPr>
      </p:sp>
      <p:sp>
        <p:nvSpPr>
          <p:cNvPr id="33" name="Text 31"/>
          <p:cNvSpPr txBox="1"/>
          <p:nvPr/>
        </p:nvSpPr>
        <p:spPr>
          <a:xfrm>
            <a:off x="4297680" y="5321808"/>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8</a:t>
            </a:r>
            <a:endParaRPr lang="en-US" sz="1800" dirty="0"/>
          </a:p>
        </p:txBody>
      </p:sp>
      <p:sp>
        <p:nvSpPr>
          <p:cNvPr id="34" name="Text 32"/>
          <p:cNvSpPr txBox="1"/>
          <p:nvPr/>
        </p:nvSpPr>
        <p:spPr>
          <a:xfrm>
            <a:off x="4983480" y="5111496"/>
            <a:ext cx="2468880" cy="969264"/>
          </a:xfrm>
          <a:prstGeom prst="rect">
            <a:avLst/>
          </a:prstGeom>
          <a:noFill/>
          <a:ln/>
        </p:spPr>
        <p:txBody>
          <a:bodyPr wrap="square" lIns="0" tIns="0" rIns="0" bIns="0" rtlCol="0" anchor="ctr"/>
          <a:lstStyle/>
          <a:p>
            <a:pPr marL="0" indent="0">
              <a:buNone/>
            </a:pPr>
            <a:r>
              <a:rPr lang="en-US" sz="1500" b="1" dirty="0">
                <a:solidFill>
                  <a:schemeClr val="accent1"/>
                </a:solidFill>
              </a:rPr>
              <a:t>Finish</a:t>
            </a:r>
            <a:endParaRPr lang="en-US" sz="1500" dirty="0"/>
          </a:p>
          <a:p>
            <a:pPr marL="0" indent="0">
              <a:buNone/>
            </a:pPr>
            <a:r>
              <a:rPr lang="en-US" sz="1400" dirty="0">
                <a:solidFill>
                  <a:schemeClr val="tx1"/>
                </a:solidFill>
              </a:rPr>
              <a:t>Send completion signal and clean up resources.</a:t>
            </a:r>
            <a:endParaRPr lang="en-US" sz="1500" dirty="0"/>
          </a:p>
        </p:txBody>
      </p:sp>
      <p:sp>
        <p:nvSpPr>
          <p:cNvPr id="35" name="Producer pseudocode"/>
          <p:cNvSpPr/>
          <p:nvPr/>
        </p:nvSpPr>
        <p:spPr>
          <a:xfrm>
            <a:off x="7818120" y="1280160"/>
            <a:ext cx="3794760" cy="2286000"/>
          </a:xfrm>
          <a:prstGeom prst="roundRect">
            <a:avLst>
              <a:gd name="adj" fmla="val 4000"/>
            </a:avLst>
          </a:prstGeom>
          <a:solidFill>
            <a:schemeClr val="bg1"/>
          </a:solidFill>
          <a:ln w="9525">
            <a:solidFill>
              <a:srgbClr val="D1D5DB"/>
            </a:solidFill>
            <a:prstDash val="solid"/>
          </a:ln>
          <a:effectLst>
            <a:outerShdw blurRad="76200" dist="25400" dir="5400000" algn="bl" rotWithShape="0">
              <a:srgbClr val="000000">
                <a:alpha val="10000"/>
              </a:srgbClr>
            </a:outerShdw>
          </a:effectLst>
        </p:spPr>
      </p:sp>
      <p:sp>
        <p:nvSpPr>
          <p:cNvPr id="36" name="Text 34"/>
          <p:cNvSpPr txBox="1"/>
          <p:nvPr/>
        </p:nvSpPr>
        <p:spPr>
          <a:xfrm>
            <a:off x="8092440" y="1417320"/>
            <a:ext cx="3246120" cy="411480"/>
          </a:xfrm>
          <a:prstGeom prst="rect">
            <a:avLst/>
          </a:prstGeom>
          <a:noFill/>
          <a:ln/>
        </p:spPr>
        <p:txBody>
          <a:bodyPr wrap="square" lIns="0" tIns="0" rIns="0" bIns="0" rtlCol="0" anchor="ctr"/>
          <a:lstStyle/>
          <a:p>
            <a:pPr marL="0" indent="0">
              <a:buNone/>
            </a:pPr>
            <a:r>
              <a:rPr lang="en-US" sz="1700" b="1" dirty="0">
                <a:solidFill>
                  <a:schemeClr val="accent1"/>
                </a:solidFill>
              </a:rPr>
              <a:t>Producer</a:t>
            </a:r>
            <a:endParaRPr lang="en-US" sz="1700" dirty="0"/>
          </a:p>
        </p:txBody>
      </p:sp>
      <p:sp>
        <p:nvSpPr>
          <p:cNvPr id="37" name="Code panel"/>
          <p:cNvSpPr/>
          <p:nvPr/>
        </p:nvSpPr>
        <p:spPr>
          <a:xfrm>
            <a:off x="8046720" y="1920240"/>
            <a:ext cx="3337560" cy="1417320"/>
          </a:xfrm>
          <a:prstGeom prst="roundRect">
            <a:avLst>
              <a:gd name="adj" fmla="val 5161"/>
            </a:avLst>
          </a:prstGeom>
          <a:solidFill>
            <a:schemeClr val="bg2"/>
          </a:solidFill>
          <a:ln w="9525">
            <a:solidFill>
              <a:srgbClr val="D1D5DB"/>
            </a:solidFill>
            <a:prstDash val="solid"/>
          </a:ln>
        </p:spPr>
      </p:sp>
      <p:sp>
        <p:nvSpPr>
          <p:cNvPr id="38" name="Text 36"/>
          <p:cNvSpPr txBox="1"/>
          <p:nvPr/>
        </p:nvSpPr>
        <p:spPr>
          <a:xfrm>
            <a:off x="8229600" y="1920240"/>
            <a:ext cx="2971800" cy="1417320"/>
          </a:xfrm>
          <a:prstGeom prst="rect">
            <a:avLst/>
          </a:prstGeom>
          <a:noFill/>
          <a:ln/>
        </p:spPr>
        <p:txBody>
          <a:bodyPr wrap="square" lIns="0" tIns="0" rIns="0" bIns="0" rtlCol="0" anchor="ctr"/>
          <a:lstStyle/>
          <a:p>
            <a:pPr marL="0" indent="0">
              <a:spcAft>
                <a:spcPts val="600"/>
              </a:spcAft>
              <a:buNone/>
            </a:pPr>
            <a:r>
              <a:rPr lang="en-US" sz="1600" dirty="0">
                <a:solidFill>
                  <a:schemeClr val="tx1"/>
                </a:solidFill>
                <a:latin typeface="Consolas" pitchFamily="34" charset="0"/>
                <a:ea typeface="Consolas" pitchFamily="34" charset="-122"/>
                <a:cs typeface="Consolas" pitchFamily="34" charset="-120"/>
              </a:rPr>
              <a:t>wait(empty)</a:t>
            </a:r>
            <a:endParaRPr lang="en-US" sz="1600" dirty="0"/>
          </a:p>
          <a:p>
            <a:pPr marL="0" indent="0">
              <a:spcAft>
                <a:spcPts val="600"/>
              </a:spcAft>
              <a:buNone/>
            </a:pPr>
            <a:r>
              <a:rPr lang="en-US" sz="1600" dirty="0">
                <a:solidFill>
                  <a:schemeClr val="tx1"/>
                </a:solidFill>
                <a:latin typeface="Consolas" pitchFamily="34" charset="0"/>
                <a:ea typeface="Consolas" pitchFamily="34" charset="-122"/>
                <a:cs typeface="Consolas" pitchFamily="34" charset="-120"/>
              </a:rPr>
              <a:t>write(message)</a:t>
            </a:r>
            <a:endParaRPr lang="en-US" sz="1600" dirty="0"/>
          </a:p>
          <a:p>
            <a:pPr marL="0" indent="0">
              <a:spcAft>
                <a:spcPts val="600"/>
              </a:spcAft>
              <a:buNone/>
            </a:pPr>
            <a:r>
              <a:rPr lang="en-US" sz="1600" dirty="0">
                <a:solidFill>
                  <a:schemeClr val="tx1"/>
                </a:solidFill>
                <a:latin typeface="Consolas" pitchFamily="34" charset="0"/>
                <a:ea typeface="Consolas" pitchFamily="34" charset="-122"/>
                <a:cs typeface="Consolas" pitchFamily="34" charset="-120"/>
              </a:rPr>
              <a:t>post(full)</a:t>
            </a:r>
            <a:endParaRPr lang="en-US" sz="1600" dirty="0"/>
          </a:p>
        </p:txBody>
      </p:sp>
      <p:sp>
        <p:nvSpPr>
          <p:cNvPr id="39" name="Consumer pseudocode"/>
          <p:cNvSpPr/>
          <p:nvPr/>
        </p:nvSpPr>
        <p:spPr>
          <a:xfrm>
            <a:off x="7818120" y="3749040"/>
            <a:ext cx="3794760" cy="2331720"/>
          </a:xfrm>
          <a:prstGeom prst="roundRect">
            <a:avLst>
              <a:gd name="adj" fmla="val 3922"/>
            </a:avLst>
          </a:prstGeom>
          <a:solidFill>
            <a:schemeClr val="bg1"/>
          </a:solidFill>
          <a:ln w="9525">
            <a:solidFill>
              <a:srgbClr val="D1D5DB"/>
            </a:solidFill>
            <a:prstDash val="solid"/>
          </a:ln>
          <a:effectLst>
            <a:outerShdw blurRad="76200" dist="25400" dir="5400000" algn="bl" rotWithShape="0">
              <a:srgbClr val="000000">
                <a:alpha val="10000"/>
              </a:srgbClr>
            </a:outerShdw>
          </a:effectLst>
        </p:spPr>
      </p:sp>
      <p:sp>
        <p:nvSpPr>
          <p:cNvPr id="40" name="Text 38"/>
          <p:cNvSpPr txBox="1"/>
          <p:nvPr/>
        </p:nvSpPr>
        <p:spPr>
          <a:xfrm>
            <a:off x="8092440" y="3886200"/>
            <a:ext cx="3246120" cy="411480"/>
          </a:xfrm>
          <a:prstGeom prst="rect">
            <a:avLst/>
          </a:prstGeom>
          <a:noFill/>
          <a:ln/>
        </p:spPr>
        <p:txBody>
          <a:bodyPr wrap="square" lIns="0" tIns="0" rIns="0" bIns="0" rtlCol="0" anchor="ctr"/>
          <a:lstStyle/>
          <a:p>
            <a:pPr marL="0" indent="0">
              <a:buNone/>
            </a:pPr>
            <a:r>
              <a:rPr lang="en-US" sz="1700" b="1" dirty="0">
                <a:solidFill>
                  <a:schemeClr val="accent1"/>
                </a:solidFill>
              </a:rPr>
              <a:t>Consumer</a:t>
            </a:r>
            <a:endParaRPr lang="en-US" sz="1700" dirty="0"/>
          </a:p>
        </p:txBody>
      </p:sp>
      <p:sp>
        <p:nvSpPr>
          <p:cNvPr id="41" name="Code panel"/>
          <p:cNvSpPr/>
          <p:nvPr/>
        </p:nvSpPr>
        <p:spPr>
          <a:xfrm>
            <a:off x="8046720" y="4389120"/>
            <a:ext cx="3337560" cy="1463040"/>
          </a:xfrm>
          <a:prstGeom prst="roundRect">
            <a:avLst>
              <a:gd name="adj" fmla="val 5000"/>
            </a:avLst>
          </a:prstGeom>
          <a:solidFill>
            <a:schemeClr val="bg2"/>
          </a:solidFill>
          <a:ln w="9525">
            <a:solidFill>
              <a:srgbClr val="D1D5DB"/>
            </a:solidFill>
            <a:prstDash val="solid"/>
          </a:ln>
        </p:spPr>
      </p:sp>
      <p:sp>
        <p:nvSpPr>
          <p:cNvPr id="42" name="Text 40"/>
          <p:cNvSpPr txBox="1"/>
          <p:nvPr/>
        </p:nvSpPr>
        <p:spPr>
          <a:xfrm>
            <a:off x="8229600" y="4389120"/>
            <a:ext cx="2971800" cy="1463040"/>
          </a:xfrm>
          <a:prstGeom prst="rect">
            <a:avLst/>
          </a:prstGeom>
          <a:noFill/>
          <a:ln/>
        </p:spPr>
        <p:txBody>
          <a:bodyPr wrap="square" lIns="0" tIns="0" rIns="0" bIns="0" rtlCol="0" anchor="ctr"/>
          <a:lstStyle/>
          <a:p>
            <a:pPr marL="0" indent="0">
              <a:spcAft>
                <a:spcPts val="600"/>
              </a:spcAft>
              <a:buNone/>
            </a:pPr>
            <a:r>
              <a:rPr lang="en-US" sz="1600" dirty="0">
                <a:solidFill>
                  <a:schemeClr val="tx1"/>
                </a:solidFill>
                <a:latin typeface="Consolas" pitchFamily="34" charset="0"/>
                <a:ea typeface="Consolas" pitchFamily="34" charset="-122"/>
                <a:cs typeface="Consolas" pitchFamily="34" charset="-120"/>
              </a:rPr>
              <a:t>wait(full)</a:t>
            </a:r>
            <a:endParaRPr lang="en-US" sz="1600" dirty="0"/>
          </a:p>
          <a:p>
            <a:pPr marL="0" indent="0">
              <a:spcAft>
                <a:spcPts val="600"/>
              </a:spcAft>
              <a:buNone/>
            </a:pPr>
            <a:r>
              <a:rPr lang="en-US" sz="1600" dirty="0">
                <a:solidFill>
                  <a:schemeClr val="tx1"/>
                </a:solidFill>
                <a:latin typeface="Consolas" pitchFamily="34" charset="0"/>
                <a:ea typeface="Consolas" pitchFamily="34" charset="-122"/>
                <a:cs typeface="Consolas" pitchFamily="34" charset="-120"/>
              </a:rPr>
              <a:t>read(message)</a:t>
            </a:r>
            <a:endParaRPr lang="en-US" sz="1600" dirty="0"/>
          </a:p>
          <a:p>
            <a:pPr marL="0" indent="0">
              <a:spcAft>
                <a:spcPts val="600"/>
              </a:spcAft>
              <a:buNone/>
            </a:pPr>
            <a:r>
              <a:rPr lang="en-US" sz="1600" dirty="0">
                <a:solidFill>
                  <a:schemeClr val="tx1"/>
                </a:solidFill>
                <a:latin typeface="Consolas" pitchFamily="34" charset="0"/>
                <a:ea typeface="Consolas" pitchFamily="34" charset="-122"/>
                <a:cs typeface="Consolas" pitchFamily="34" charset="-120"/>
              </a:rPr>
              <a:t>post(empty)</a:t>
            </a:r>
            <a:endParaRPr lang="en-US" sz="1600" dirty="0"/>
          </a:p>
        </p:txBody>
      </p:sp>
      <p:sp>
        <p:nvSpPr>
          <p:cNvPr id="43" name="Slide Number Placeholder 0"/>
          <p:cNvSpPr>
            <a:spLocks noGrp="1"/>
          </p:cNvSpPr>
          <p:nvPr>
            <p:ph type="sldNum" sz="quarter" idx="4294967295"/>
          </p:nvPr>
        </p:nvSpPr>
        <p:spPr>
          <a:xfrm>
            <a:off x="10881360" y="6419088"/>
            <a:ext cx="75895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lIns="0" tIns="0" rIns="0" bIns="0" rtlCol="0" anchor="ctr"/>
          <a:lstStyle/>
          <a:p>
            <a:pPr marL="0" indent="0" algn="l">
              <a:buNone/>
            </a:pPr>
            <a:r>
              <a:rPr lang="en-US" sz="3200" b="1" dirty="0">
                <a:solidFill>
                  <a:schemeClr val="accent1"/>
                </a:solidFill>
              </a:rPr>
              <a:t>Maintaining Data Consistency</a:t>
            </a:r>
            <a:endParaRPr lang="en-US" sz="3200" dirty="0"/>
          </a:p>
        </p:txBody>
      </p:sp>
      <p:sp>
        <p:nvSpPr>
          <p:cNvPr id="3" name="Text 1"/>
          <p:cNvSpPr txBox="1"/>
          <p:nvPr/>
        </p:nvSpPr>
        <p:spPr>
          <a:xfrm>
            <a:off x="548640" y="1097280"/>
            <a:ext cx="11064240" cy="548640"/>
          </a:xfrm>
          <a:prstGeom prst="rect">
            <a:avLst/>
          </a:prstGeom>
          <a:noFill/>
          <a:ln/>
        </p:spPr>
        <p:txBody>
          <a:bodyPr wrap="square" lIns="0" tIns="0" rIns="0" bIns="0" rtlCol="0" anchor="ctr"/>
          <a:lstStyle/>
          <a:p>
            <a:pPr marL="0" indent="0">
              <a:buNone/>
            </a:pPr>
            <a:r>
              <a:rPr lang="en-US" sz="1600" dirty="0">
                <a:solidFill>
                  <a:schemeClr val="tx2"/>
                </a:solidFill>
              </a:rPr>
              <a:t>Without synchronization, the producer could overwrite an unread message, or the consumer could read before a message is ready.</a:t>
            </a:r>
            <a:endParaRPr lang="en-US" sz="1600" dirty="0"/>
          </a:p>
        </p:txBody>
      </p:sp>
      <p:sp>
        <p:nvSpPr>
          <p:cNvPr id="4" name="empty card"/>
          <p:cNvSpPr/>
          <p:nvPr/>
        </p:nvSpPr>
        <p:spPr>
          <a:xfrm>
            <a:off x="548640" y="1783080"/>
            <a:ext cx="5440680" cy="2240280"/>
          </a:xfrm>
          <a:prstGeom prst="roundRect">
            <a:avLst>
              <a:gd name="adj" fmla="val 4082"/>
            </a:avLst>
          </a:prstGeom>
          <a:solidFill>
            <a:schemeClr val="bg1"/>
          </a:solidFill>
          <a:ln w="9525">
            <a:solidFill>
              <a:srgbClr val="D1D5DB"/>
            </a:solidFill>
            <a:prstDash val="solid"/>
          </a:ln>
          <a:effectLst>
            <a:outerShdw blurRad="76200" dist="25400" dir="5400000" algn="bl" rotWithShape="0">
              <a:srgbClr val="000000">
                <a:alpha val="10000"/>
              </a:srgbClr>
            </a:outerShdw>
          </a:effectLst>
        </p:spPr>
      </p:sp>
      <p:sp>
        <p:nvSpPr>
          <p:cNvPr id="5" name="Text 3"/>
          <p:cNvSpPr txBox="1"/>
          <p:nvPr/>
        </p:nvSpPr>
        <p:spPr>
          <a:xfrm>
            <a:off x="822960" y="1874520"/>
            <a:ext cx="3474720" cy="457200"/>
          </a:xfrm>
          <a:prstGeom prst="rect">
            <a:avLst/>
          </a:prstGeom>
          <a:noFill/>
          <a:ln/>
        </p:spPr>
        <p:txBody>
          <a:bodyPr wrap="square" lIns="0" tIns="0" rIns="0" bIns="0" rtlCol="0" anchor="ctr"/>
          <a:lstStyle/>
          <a:p>
            <a:pPr marL="0" indent="0">
              <a:buNone/>
            </a:pPr>
            <a:r>
              <a:rPr lang="en-US" sz="2000" b="1" dirty="0">
                <a:solidFill>
                  <a:schemeClr val="accent1"/>
                </a:solidFill>
                <a:latin typeface="Consolas" pitchFamily="34" charset="0"/>
                <a:ea typeface="Consolas" pitchFamily="34" charset="-122"/>
                <a:cs typeface="Consolas" pitchFamily="34" charset="-120"/>
              </a:rPr>
              <a:t>empty</a:t>
            </a:r>
            <a:r>
              <a:rPr lang="en-US" sz="1700" b="1" dirty="0">
                <a:solidFill>
                  <a:schemeClr val="tx1"/>
                </a:solidFill>
              </a:rPr>
              <a:t>  semaphore</a:t>
            </a:r>
            <a:endParaRPr lang="en-US" sz="2000" dirty="0"/>
          </a:p>
        </p:txBody>
      </p:sp>
      <p:sp>
        <p:nvSpPr>
          <p:cNvPr id="6" name="Initial value chip"/>
          <p:cNvSpPr/>
          <p:nvPr/>
        </p:nvSpPr>
        <p:spPr>
          <a:xfrm>
            <a:off x="4343400" y="1938528"/>
            <a:ext cx="1371600" cy="365760"/>
          </a:xfrm>
          <a:prstGeom prst="roundRect">
            <a:avLst>
              <a:gd name="adj" fmla="val 20000"/>
            </a:avLst>
          </a:prstGeom>
          <a:solidFill>
            <a:schemeClr val="accent2"/>
          </a:solidFill>
          <a:ln w="12700">
            <a:solidFill>
              <a:schemeClr val="accent1"/>
            </a:solidFill>
            <a:prstDash val="solid"/>
          </a:ln>
        </p:spPr>
      </p:sp>
      <p:sp>
        <p:nvSpPr>
          <p:cNvPr id="7" name="Text 5"/>
          <p:cNvSpPr txBox="1"/>
          <p:nvPr/>
        </p:nvSpPr>
        <p:spPr>
          <a:xfrm>
            <a:off x="4343400" y="1938528"/>
            <a:ext cx="1371600" cy="365760"/>
          </a:xfrm>
          <a:prstGeom prst="rect">
            <a:avLst/>
          </a:prstGeom>
          <a:noFill/>
          <a:ln/>
        </p:spPr>
        <p:txBody>
          <a:bodyPr wrap="square" lIns="0" tIns="0" rIns="0" bIns="0" rtlCol="0" anchor="ctr"/>
          <a:lstStyle/>
          <a:p>
            <a:pPr marL="0" indent="0" algn="ctr">
              <a:buNone/>
            </a:pPr>
            <a:r>
              <a:rPr lang="en-US" sz="1400" b="1" dirty="0">
                <a:solidFill>
                  <a:schemeClr val="accent1"/>
                </a:solidFill>
              </a:rPr>
              <a:t>Initial: 1</a:t>
            </a:r>
            <a:endParaRPr lang="en-US" sz="1400" dirty="0"/>
          </a:p>
        </p:txBody>
      </p:sp>
      <p:sp>
        <p:nvSpPr>
          <p:cNvPr id="8" name="Text 6"/>
          <p:cNvSpPr txBox="1"/>
          <p:nvPr/>
        </p:nvSpPr>
        <p:spPr>
          <a:xfrm>
            <a:off x="822960" y="2468880"/>
            <a:ext cx="4892040" cy="146304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Indicates the single shared slot is available for writing.</a:t>
            </a:r>
            <a:endParaRPr lang="en-US" sz="1500" dirty="0"/>
          </a:p>
          <a:p>
            <a:pPr marL="203200" indent="-203200">
              <a:spcAft>
                <a:spcPts val="600"/>
              </a:spcAft>
              <a:buSzPct val="100000"/>
              <a:buChar char="•"/>
            </a:pPr>
            <a:r>
              <a:rPr lang="en-US" sz="1500" dirty="0">
                <a:solidFill>
                  <a:schemeClr val="tx1"/>
                </a:solidFill>
              </a:rPr>
              <a:t>The producer waits on it before writing.</a:t>
            </a:r>
            <a:endParaRPr lang="en-US" sz="1500" dirty="0"/>
          </a:p>
          <a:p>
            <a:pPr marL="203200" indent="-203200">
              <a:spcAft>
                <a:spcPts val="600"/>
              </a:spcAft>
              <a:buSzPct val="100000"/>
              <a:buChar char="•"/>
            </a:pPr>
            <a:r>
              <a:rPr lang="en-US" sz="1500" dirty="0">
                <a:solidFill>
                  <a:schemeClr val="tx1"/>
                </a:solidFill>
              </a:rPr>
              <a:t>The consumer signals it after reading.</a:t>
            </a:r>
            <a:endParaRPr lang="en-US" sz="1500" dirty="0"/>
          </a:p>
        </p:txBody>
      </p:sp>
      <p:sp>
        <p:nvSpPr>
          <p:cNvPr id="9" name="full card"/>
          <p:cNvSpPr/>
          <p:nvPr/>
        </p:nvSpPr>
        <p:spPr>
          <a:xfrm>
            <a:off x="6172200" y="1783080"/>
            <a:ext cx="5440680" cy="2240280"/>
          </a:xfrm>
          <a:prstGeom prst="roundRect">
            <a:avLst>
              <a:gd name="adj" fmla="val 4082"/>
            </a:avLst>
          </a:prstGeom>
          <a:solidFill>
            <a:schemeClr val="bg1"/>
          </a:solidFill>
          <a:ln w="9525">
            <a:solidFill>
              <a:srgbClr val="D1D5DB"/>
            </a:solidFill>
            <a:prstDash val="solid"/>
          </a:ln>
          <a:effectLst>
            <a:outerShdw blurRad="76200" dist="25400" dir="5400000" algn="bl" rotWithShape="0">
              <a:srgbClr val="000000">
                <a:alpha val="10000"/>
              </a:srgbClr>
            </a:outerShdw>
          </a:effectLst>
        </p:spPr>
      </p:sp>
      <p:sp>
        <p:nvSpPr>
          <p:cNvPr id="10" name="Text 8"/>
          <p:cNvSpPr txBox="1"/>
          <p:nvPr/>
        </p:nvSpPr>
        <p:spPr>
          <a:xfrm>
            <a:off x="6446520" y="1874520"/>
            <a:ext cx="3474720" cy="457200"/>
          </a:xfrm>
          <a:prstGeom prst="rect">
            <a:avLst/>
          </a:prstGeom>
          <a:noFill/>
          <a:ln/>
        </p:spPr>
        <p:txBody>
          <a:bodyPr wrap="square" lIns="0" tIns="0" rIns="0" bIns="0" rtlCol="0" anchor="ctr"/>
          <a:lstStyle/>
          <a:p>
            <a:pPr marL="0" indent="0">
              <a:buNone/>
            </a:pPr>
            <a:r>
              <a:rPr lang="en-US" sz="2000" b="1" dirty="0">
                <a:solidFill>
                  <a:schemeClr val="accent1"/>
                </a:solidFill>
                <a:latin typeface="Consolas" pitchFamily="34" charset="0"/>
                <a:ea typeface="Consolas" pitchFamily="34" charset="-122"/>
                <a:cs typeface="Consolas" pitchFamily="34" charset="-120"/>
              </a:rPr>
              <a:t>full</a:t>
            </a:r>
            <a:r>
              <a:rPr lang="en-US" sz="1700" b="1" dirty="0">
                <a:solidFill>
                  <a:schemeClr val="tx1"/>
                </a:solidFill>
              </a:rPr>
              <a:t>  semaphore</a:t>
            </a:r>
            <a:endParaRPr lang="en-US" sz="2000" dirty="0"/>
          </a:p>
        </p:txBody>
      </p:sp>
      <p:sp>
        <p:nvSpPr>
          <p:cNvPr id="11" name="Initial value chip"/>
          <p:cNvSpPr/>
          <p:nvPr/>
        </p:nvSpPr>
        <p:spPr>
          <a:xfrm>
            <a:off x="9966960" y="1938528"/>
            <a:ext cx="1371600" cy="365760"/>
          </a:xfrm>
          <a:prstGeom prst="roundRect">
            <a:avLst>
              <a:gd name="adj" fmla="val 20000"/>
            </a:avLst>
          </a:prstGeom>
          <a:solidFill>
            <a:schemeClr val="accent2"/>
          </a:solidFill>
          <a:ln w="12700">
            <a:solidFill>
              <a:schemeClr val="accent1"/>
            </a:solidFill>
            <a:prstDash val="solid"/>
          </a:ln>
        </p:spPr>
      </p:sp>
      <p:sp>
        <p:nvSpPr>
          <p:cNvPr id="12" name="Text 10"/>
          <p:cNvSpPr txBox="1"/>
          <p:nvPr/>
        </p:nvSpPr>
        <p:spPr>
          <a:xfrm>
            <a:off x="9966960" y="1938528"/>
            <a:ext cx="1371600" cy="365760"/>
          </a:xfrm>
          <a:prstGeom prst="rect">
            <a:avLst/>
          </a:prstGeom>
          <a:noFill/>
          <a:ln/>
        </p:spPr>
        <p:txBody>
          <a:bodyPr wrap="square" lIns="0" tIns="0" rIns="0" bIns="0" rtlCol="0" anchor="ctr"/>
          <a:lstStyle/>
          <a:p>
            <a:pPr marL="0" indent="0" algn="ctr">
              <a:buNone/>
            </a:pPr>
            <a:r>
              <a:rPr lang="en-US" sz="1400" b="1" dirty="0">
                <a:solidFill>
                  <a:schemeClr val="accent1"/>
                </a:solidFill>
              </a:rPr>
              <a:t>Initial: 0</a:t>
            </a:r>
            <a:endParaRPr lang="en-US" sz="1400" dirty="0"/>
          </a:p>
        </p:txBody>
      </p:sp>
      <p:sp>
        <p:nvSpPr>
          <p:cNvPr id="13" name="Text 11"/>
          <p:cNvSpPr txBox="1"/>
          <p:nvPr/>
        </p:nvSpPr>
        <p:spPr>
          <a:xfrm>
            <a:off x="6446520" y="2468880"/>
            <a:ext cx="4892040" cy="146304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Indicates a message is available for reading.</a:t>
            </a:r>
            <a:endParaRPr lang="en-US" sz="1500" dirty="0"/>
          </a:p>
          <a:p>
            <a:pPr marL="203200" indent="-203200">
              <a:spcAft>
                <a:spcPts val="600"/>
              </a:spcAft>
              <a:buSzPct val="100000"/>
              <a:buChar char="•"/>
            </a:pPr>
            <a:r>
              <a:rPr lang="en-US" sz="1500" dirty="0">
                <a:solidFill>
                  <a:schemeClr val="tx1"/>
                </a:solidFill>
              </a:rPr>
              <a:t>The producer signals it after writing.</a:t>
            </a:r>
            <a:endParaRPr lang="en-US" sz="1500" dirty="0"/>
          </a:p>
          <a:p>
            <a:pPr marL="203200" indent="-203200">
              <a:spcAft>
                <a:spcPts val="600"/>
              </a:spcAft>
              <a:buSzPct val="100000"/>
              <a:buChar char="•"/>
            </a:pPr>
            <a:r>
              <a:rPr lang="en-US" sz="1500" dirty="0">
                <a:solidFill>
                  <a:schemeClr val="tx1"/>
                </a:solidFill>
              </a:rPr>
              <a:t>The consumer waits on it before reading.</a:t>
            </a:r>
            <a:endParaRPr lang="en-US" sz="1500" dirty="0"/>
          </a:p>
        </p:txBody>
      </p:sp>
      <p:sp>
        <p:nvSpPr>
          <p:cNvPr id="14" name="Flow panel"/>
          <p:cNvSpPr/>
          <p:nvPr/>
        </p:nvSpPr>
        <p:spPr>
          <a:xfrm>
            <a:off x="548640" y="4206240"/>
            <a:ext cx="11064240" cy="1600200"/>
          </a:xfrm>
          <a:prstGeom prst="roundRect">
            <a:avLst>
              <a:gd name="adj" fmla="val 5714"/>
            </a:avLst>
          </a:prstGeom>
          <a:solidFill>
            <a:schemeClr val="accent2"/>
          </a:solidFill>
          <a:ln w="15875">
            <a:solidFill>
              <a:schemeClr val="accent1"/>
            </a:solidFill>
            <a:prstDash val="solid"/>
          </a:ln>
          <a:effectLst>
            <a:outerShdw blurRad="76200" dist="25400" dir="5400000" algn="bl" rotWithShape="0">
              <a:srgbClr val="000000">
                <a:alpha val="10000"/>
              </a:srgbClr>
            </a:outerShdw>
          </a:effectLst>
        </p:spPr>
      </p:sp>
      <p:sp>
        <p:nvSpPr>
          <p:cNvPr id="15" name="Chip"/>
          <p:cNvSpPr/>
          <p:nvPr/>
        </p:nvSpPr>
        <p:spPr>
          <a:xfrm>
            <a:off x="1165860" y="4343400"/>
            <a:ext cx="2011680" cy="640080"/>
          </a:xfrm>
          <a:prstGeom prst="roundRect">
            <a:avLst>
              <a:gd name="adj" fmla="val 11429"/>
            </a:avLst>
          </a:prstGeom>
          <a:solidFill>
            <a:schemeClr val="bg1"/>
          </a:solidFill>
          <a:ln w="22225">
            <a:solidFill>
              <a:schemeClr val="accent1"/>
            </a:solidFill>
            <a:prstDash val="solid"/>
          </a:ln>
        </p:spPr>
      </p:sp>
      <p:sp>
        <p:nvSpPr>
          <p:cNvPr id="16" name="Text 14"/>
          <p:cNvSpPr txBox="1"/>
          <p:nvPr/>
        </p:nvSpPr>
        <p:spPr>
          <a:xfrm>
            <a:off x="1165860" y="4343400"/>
            <a:ext cx="2011680" cy="640080"/>
          </a:xfrm>
          <a:prstGeom prst="rect">
            <a:avLst/>
          </a:prstGeom>
          <a:noFill/>
          <a:ln/>
        </p:spPr>
        <p:txBody>
          <a:bodyPr wrap="square" lIns="25400" tIns="25400" rIns="25400" bIns="25400" rtlCol="0" anchor="ctr"/>
          <a:lstStyle/>
          <a:p>
            <a:pPr marL="0" indent="0" algn="ctr">
              <a:buNone/>
            </a:pPr>
            <a:r>
              <a:rPr lang="en-US" sz="1600" b="1" dirty="0">
                <a:solidFill>
                  <a:schemeClr val="tx1"/>
                </a:solidFill>
              </a:rPr>
              <a:t>Empty slot</a:t>
            </a:r>
            <a:endParaRPr lang="en-US" sz="1600" dirty="0"/>
          </a:p>
        </p:txBody>
      </p:sp>
      <p:sp>
        <p:nvSpPr>
          <p:cNvPr id="17" name="Arrow"/>
          <p:cNvSpPr/>
          <p:nvPr/>
        </p:nvSpPr>
        <p:spPr>
          <a:xfrm>
            <a:off x="3241548" y="4663440"/>
            <a:ext cx="466344" cy="0"/>
          </a:xfrm>
          <a:prstGeom prst="line">
            <a:avLst/>
          </a:prstGeom>
          <a:noFill/>
          <a:ln w="28575">
            <a:solidFill>
              <a:schemeClr val="accent1"/>
            </a:solidFill>
            <a:prstDash val="solid"/>
            <a:tailEnd type="triangle"/>
          </a:ln>
        </p:spPr>
      </p:sp>
      <p:sp>
        <p:nvSpPr>
          <p:cNvPr id="18" name="Chip"/>
          <p:cNvSpPr/>
          <p:nvPr/>
        </p:nvSpPr>
        <p:spPr>
          <a:xfrm>
            <a:off x="3771900" y="4343400"/>
            <a:ext cx="2011680" cy="640080"/>
          </a:xfrm>
          <a:prstGeom prst="roundRect">
            <a:avLst>
              <a:gd name="adj" fmla="val 11429"/>
            </a:avLst>
          </a:prstGeom>
          <a:solidFill>
            <a:schemeClr val="bg1"/>
          </a:solidFill>
          <a:ln w="12700">
            <a:solidFill>
              <a:srgbClr val="D1D5DB"/>
            </a:solidFill>
            <a:prstDash val="solid"/>
          </a:ln>
        </p:spPr>
      </p:sp>
      <p:sp>
        <p:nvSpPr>
          <p:cNvPr id="19" name="Text 17"/>
          <p:cNvSpPr txBox="1"/>
          <p:nvPr/>
        </p:nvSpPr>
        <p:spPr>
          <a:xfrm>
            <a:off x="3771900" y="4343400"/>
            <a:ext cx="2011680" cy="640080"/>
          </a:xfrm>
          <a:prstGeom prst="rect">
            <a:avLst/>
          </a:prstGeom>
          <a:noFill/>
          <a:ln/>
        </p:spPr>
        <p:txBody>
          <a:bodyPr wrap="square" lIns="25400" tIns="25400" rIns="25400" bIns="25400" rtlCol="0" anchor="ctr"/>
          <a:lstStyle/>
          <a:p>
            <a:pPr marL="0" indent="0" algn="ctr">
              <a:buNone/>
            </a:pPr>
            <a:r>
              <a:rPr lang="en-US" sz="1600" b="1" dirty="0">
                <a:solidFill>
                  <a:schemeClr val="tx1"/>
                </a:solidFill>
              </a:rPr>
              <a:t>Producer writes</a:t>
            </a:r>
            <a:endParaRPr lang="en-US" sz="1600" dirty="0"/>
          </a:p>
        </p:txBody>
      </p:sp>
      <p:sp>
        <p:nvSpPr>
          <p:cNvPr id="20" name="Arrow"/>
          <p:cNvSpPr/>
          <p:nvPr/>
        </p:nvSpPr>
        <p:spPr>
          <a:xfrm>
            <a:off x="5847588" y="4663440"/>
            <a:ext cx="466344" cy="0"/>
          </a:xfrm>
          <a:prstGeom prst="line">
            <a:avLst/>
          </a:prstGeom>
          <a:noFill/>
          <a:ln w="28575">
            <a:solidFill>
              <a:schemeClr val="accent1"/>
            </a:solidFill>
            <a:prstDash val="solid"/>
            <a:tailEnd type="triangle"/>
          </a:ln>
        </p:spPr>
      </p:sp>
      <p:sp>
        <p:nvSpPr>
          <p:cNvPr id="21" name="Chip"/>
          <p:cNvSpPr/>
          <p:nvPr/>
        </p:nvSpPr>
        <p:spPr>
          <a:xfrm>
            <a:off x="6377940" y="4343400"/>
            <a:ext cx="2011680" cy="640080"/>
          </a:xfrm>
          <a:prstGeom prst="roundRect">
            <a:avLst>
              <a:gd name="adj" fmla="val 11429"/>
            </a:avLst>
          </a:prstGeom>
          <a:solidFill>
            <a:schemeClr val="bg1"/>
          </a:solidFill>
          <a:ln w="22225">
            <a:solidFill>
              <a:schemeClr val="accent1"/>
            </a:solidFill>
            <a:prstDash val="solid"/>
          </a:ln>
        </p:spPr>
      </p:sp>
      <p:sp>
        <p:nvSpPr>
          <p:cNvPr id="22" name="Text 20"/>
          <p:cNvSpPr txBox="1"/>
          <p:nvPr/>
        </p:nvSpPr>
        <p:spPr>
          <a:xfrm>
            <a:off x="6377940" y="4343400"/>
            <a:ext cx="2011680" cy="640080"/>
          </a:xfrm>
          <a:prstGeom prst="rect">
            <a:avLst/>
          </a:prstGeom>
          <a:noFill/>
          <a:ln/>
        </p:spPr>
        <p:txBody>
          <a:bodyPr wrap="square" lIns="25400" tIns="25400" rIns="25400" bIns="25400" rtlCol="0" anchor="ctr"/>
          <a:lstStyle/>
          <a:p>
            <a:pPr marL="0" indent="0" algn="ctr">
              <a:buNone/>
            </a:pPr>
            <a:r>
              <a:rPr lang="en-US" sz="1600" b="1" dirty="0">
                <a:solidFill>
                  <a:schemeClr val="tx1"/>
                </a:solidFill>
              </a:rPr>
              <a:t>Full slot</a:t>
            </a:r>
            <a:endParaRPr lang="en-US" sz="1600" dirty="0"/>
          </a:p>
        </p:txBody>
      </p:sp>
      <p:sp>
        <p:nvSpPr>
          <p:cNvPr id="23" name="Arrow"/>
          <p:cNvSpPr/>
          <p:nvPr/>
        </p:nvSpPr>
        <p:spPr>
          <a:xfrm>
            <a:off x="8453628" y="4663440"/>
            <a:ext cx="466344" cy="0"/>
          </a:xfrm>
          <a:prstGeom prst="line">
            <a:avLst/>
          </a:prstGeom>
          <a:noFill/>
          <a:ln w="28575">
            <a:solidFill>
              <a:schemeClr val="accent1"/>
            </a:solidFill>
            <a:prstDash val="solid"/>
            <a:tailEnd type="triangle"/>
          </a:ln>
        </p:spPr>
      </p:sp>
      <p:sp>
        <p:nvSpPr>
          <p:cNvPr id="24" name="Chip"/>
          <p:cNvSpPr/>
          <p:nvPr/>
        </p:nvSpPr>
        <p:spPr>
          <a:xfrm>
            <a:off x="8983980" y="4343400"/>
            <a:ext cx="2011680" cy="640080"/>
          </a:xfrm>
          <a:prstGeom prst="roundRect">
            <a:avLst>
              <a:gd name="adj" fmla="val 11429"/>
            </a:avLst>
          </a:prstGeom>
          <a:solidFill>
            <a:schemeClr val="bg1"/>
          </a:solidFill>
          <a:ln w="12700">
            <a:solidFill>
              <a:srgbClr val="D1D5DB"/>
            </a:solidFill>
            <a:prstDash val="solid"/>
          </a:ln>
        </p:spPr>
      </p:sp>
      <p:sp>
        <p:nvSpPr>
          <p:cNvPr id="25" name="Text 23"/>
          <p:cNvSpPr txBox="1"/>
          <p:nvPr/>
        </p:nvSpPr>
        <p:spPr>
          <a:xfrm>
            <a:off x="8983980" y="4343400"/>
            <a:ext cx="2011680" cy="640080"/>
          </a:xfrm>
          <a:prstGeom prst="rect">
            <a:avLst/>
          </a:prstGeom>
          <a:noFill/>
          <a:ln/>
        </p:spPr>
        <p:txBody>
          <a:bodyPr wrap="square" lIns="25400" tIns="25400" rIns="25400" bIns="25400" rtlCol="0" anchor="ctr"/>
          <a:lstStyle/>
          <a:p>
            <a:pPr marL="0" indent="0" algn="ctr">
              <a:buNone/>
            </a:pPr>
            <a:r>
              <a:rPr lang="en-US" sz="1600" b="1" dirty="0">
                <a:solidFill>
                  <a:schemeClr val="tx1"/>
                </a:solidFill>
              </a:rPr>
              <a:t>Consumer reads</a:t>
            </a:r>
            <a:endParaRPr lang="en-US" sz="1600" dirty="0"/>
          </a:p>
        </p:txBody>
      </p:sp>
      <p:sp>
        <p:nvSpPr>
          <p:cNvPr id="26" name="Arrow"/>
          <p:cNvSpPr/>
          <p:nvPr/>
        </p:nvSpPr>
        <p:spPr>
          <a:xfrm>
            <a:off x="9989820" y="4983480"/>
            <a:ext cx="0" cy="411480"/>
          </a:xfrm>
          <a:prstGeom prst="line">
            <a:avLst/>
          </a:prstGeom>
          <a:noFill/>
          <a:ln w="28575">
            <a:solidFill>
              <a:schemeClr val="accent1"/>
            </a:solidFill>
            <a:prstDash val="solid"/>
          </a:ln>
        </p:spPr>
      </p:sp>
      <p:sp>
        <p:nvSpPr>
          <p:cNvPr id="27" name="Arrow"/>
          <p:cNvSpPr/>
          <p:nvPr/>
        </p:nvSpPr>
        <p:spPr>
          <a:xfrm>
            <a:off x="2171700" y="5394960"/>
            <a:ext cx="7818120" cy="0"/>
          </a:xfrm>
          <a:prstGeom prst="line">
            <a:avLst/>
          </a:prstGeom>
          <a:noFill/>
          <a:ln w="28575">
            <a:solidFill>
              <a:schemeClr val="accent1"/>
            </a:solidFill>
            <a:prstDash val="solid"/>
          </a:ln>
        </p:spPr>
      </p:sp>
      <p:sp>
        <p:nvSpPr>
          <p:cNvPr id="28" name="Arrow"/>
          <p:cNvSpPr/>
          <p:nvPr/>
        </p:nvSpPr>
        <p:spPr>
          <a:xfrm flipV="1">
            <a:off x="2171700" y="4983480"/>
            <a:ext cx="0" cy="411480"/>
          </a:xfrm>
          <a:prstGeom prst="line">
            <a:avLst/>
          </a:prstGeom>
          <a:noFill/>
          <a:ln w="28575">
            <a:solidFill>
              <a:schemeClr val="accent1"/>
            </a:solidFill>
            <a:prstDash val="solid"/>
            <a:tailEnd type="triangle"/>
          </a:ln>
        </p:spPr>
      </p:sp>
      <p:sp>
        <p:nvSpPr>
          <p:cNvPr id="29" name="Text 27"/>
          <p:cNvSpPr txBox="1"/>
          <p:nvPr/>
        </p:nvSpPr>
        <p:spPr>
          <a:xfrm>
            <a:off x="5074920" y="5230368"/>
            <a:ext cx="2011680" cy="329184"/>
          </a:xfrm>
          <a:prstGeom prst="rect">
            <a:avLst/>
          </a:prstGeom>
          <a:solidFill>
            <a:schemeClr val="accent2"/>
          </a:solidFill>
          <a:ln/>
        </p:spPr>
        <p:txBody>
          <a:bodyPr wrap="square" lIns="0" tIns="0" rIns="0" bIns="0" rtlCol="0" anchor="ctr"/>
          <a:lstStyle/>
          <a:p>
            <a:pPr marL="0" indent="0" algn="ctr">
              <a:buNone/>
            </a:pPr>
            <a:r>
              <a:rPr lang="en-US" sz="1300" b="1" dirty="0">
                <a:solidFill>
                  <a:schemeClr val="accent1"/>
                </a:solidFill>
                <a:latin typeface="Consolas" pitchFamily="34" charset="0"/>
                <a:ea typeface="Consolas" pitchFamily="34" charset="-122"/>
                <a:cs typeface="Consolas" pitchFamily="34" charset="-120"/>
              </a:rPr>
              <a:t>sem_post(empty)</a:t>
            </a:r>
            <a:endParaRPr lang="en-US" sz="1300" dirty="0"/>
          </a:p>
        </p:txBody>
      </p:sp>
      <p:sp>
        <p:nvSpPr>
          <p:cNvPr id="30" name="Text 28"/>
          <p:cNvSpPr txBox="1"/>
          <p:nvPr/>
        </p:nvSpPr>
        <p:spPr>
          <a:xfrm>
            <a:off x="548640" y="5870448"/>
            <a:ext cx="11064240" cy="457200"/>
          </a:xfrm>
          <a:prstGeom prst="rect">
            <a:avLst/>
          </a:prstGeom>
          <a:noFill/>
          <a:ln/>
        </p:spPr>
        <p:txBody>
          <a:bodyPr wrap="square" lIns="0" tIns="0" rIns="0" bIns="0" rtlCol="0" anchor="ctr"/>
          <a:lstStyle/>
          <a:p>
            <a:pPr marL="0" indent="0" algn="ctr">
              <a:buNone/>
            </a:pPr>
            <a:r>
              <a:rPr lang="en-US" sz="1400" b="1" dirty="0">
                <a:solidFill>
                  <a:schemeClr val="tx1"/>
                </a:solidFill>
              </a:rPr>
              <a:t>Semaphores coordinate the two processes and prevent the producer from overwriting unread data in this single-slot design.</a:t>
            </a:r>
            <a:endParaRPr lang="en-US" sz="1400" dirty="0"/>
          </a:p>
        </p:txBody>
      </p:sp>
      <p:sp>
        <p:nvSpPr>
          <p:cNvPr id="31" name="Slide Number Placeholder 0"/>
          <p:cNvSpPr>
            <a:spLocks noGrp="1"/>
          </p:cNvSpPr>
          <p:nvPr>
            <p:ph type="sldNum" sz="quarter" idx="4294967295"/>
          </p:nvPr>
        </p:nvSpPr>
        <p:spPr>
          <a:xfrm>
            <a:off x="10881360" y="6419088"/>
            <a:ext cx="75895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lIns="0" tIns="0" rIns="0" bIns="0" rtlCol="0" anchor="ctr"/>
          <a:lstStyle/>
          <a:p>
            <a:pPr marL="0" indent="0" algn="l">
              <a:buNone/>
            </a:pPr>
            <a:r>
              <a:rPr lang="en-US" sz="3200" b="1" dirty="0">
                <a:solidFill>
                  <a:schemeClr val="accent1"/>
                </a:solidFill>
              </a:rPr>
              <a:t>Testing, Validation and Results</a:t>
            </a:r>
            <a:endParaRPr lang="en-US" sz="3200" dirty="0"/>
          </a:p>
        </p:txBody>
      </p:sp>
      <p:sp>
        <p:nvSpPr>
          <p:cNvPr id="3" name="Test card 1"/>
          <p:cNvSpPr/>
          <p:nvPr/>
        </p:nvSpPr>
        <p:spPr>
          <a:xfrm>
            <a:off x="548640" y="1234440"/>
            <a:ext cx="6035040" cy="896112"/>
          </a:xfrm>
          <a:prstGeom prst="roundRect">
            <a:avLst>
              <a:gd name="adj" fmla="val 10204"/>
            </a:avLst>
          </a:prstGeom>
          <a:solidFill>
            <a:schemeClr val="bg1"/>
          </a:solidFill>
          <a:ln w="9525">
            <a:solidFill>
              <a:srgbClr val="D1D5DB"/>
            </a:solidFill>
            <a:prstDash val="solid"/>
          </a:ln>
          <a:effectLst>
            <a:outerShdw blurRad="76200" dist="25400" dir="5400000" algn="bl" rotWithShape="0">
              <a:srgbClr val="000000">
                <a:alpha val="10000"/>
              </a:srgbClr>
            </a:outerShdw>
          </a:effectLst>
        </p:spPr>
      </p:sp>
      <p:sp>
        <p:nvSpPr>
          <p:cNvPr id="4" name="Text 2"/>
          <p:cNvSpPr txBox="1"/>
          <p:nvPr/>
        </p:nvSpPr>
        <p:spPr>
          <a:xfrm>
            <a:off x="777240" y="1280160"/>
            <a:ext cx="4297680" cy="804672"/>
          </a:xfrm>
          <a:prstGeom prst="rect">
            <a:avLst/>
          </a:prstGeom>
          <a:noFill/>
          <a:ln/>
        </p:spPr>
        <p:txBody>
          <a:bodyPr wrap="square" lIns="0" tIns="0" rIns="0" bIns="0" rtlCol="0" anchor="ctr"/>
          <a:lstStyle/>
          <a:p>
            <a:pPr marL="0" indent="0">
              <a:buNone/>
            </a:pPr>
            <a:r>
              <a:rPr lang="en-US" sz="1500" b="1" dirty="0">
                <a:solidFill>
                  <a:schemeClr val="accent1"/>
                </a:solidFill>
              </a:rPr>
              <a:t>Test 1: Compilation</a:t>
            </a:r>
            <a:endParaRPr lang="en-US" sz="1500" dirty="0"/>
          </a:p>
          <a:p>
            <a:pPr marL="0" indent="0">
              <a:buNone/>
            </a:pPr>
            <a:r>
              <a:rPr lang="en-US" sz="1400" dirty="0">
                <a:solidFill>
                  <a:schemeClr val="tx1"/>
                </a:solidFill>
              </a:rPr>
              <a:t>Compile the C source code using GCC.</a:t>
            </a:r>
            <a:endParaRPr lang="en-US" sz="1500" dirty="0"/>
          </a:p>
        </p:txBody>
      </p:sp>
      <p:sp>
        <p:nvSpPr>
          <p:cNvPr id="5" name="Status chip"/>
          <p:cNvSpPr/>
          <p:nvPr/>
        </p:nvSpPr>
        <p:spPr>
          <a:xfrm>
            <a:off x="5257800" y="1517904"/>
            <a:ext cx="1143000" cy="329184"/>
          </a:xfrm>
          <a:prstGeom prst="roundRect">
            <a:avLst>
              <a:gd name="adj" fmla="val 22222"/>
            </a:avLst>
          </a:prstGeom>
          <a:solidFill>
            <a:schemeClr val="bg2"/>
          </a:solidFill>
          <a:ln w="12700">
            <a:solidFill>
              <a:srgbClr val="9CA3AF"/>
            </a:solidFill>
            <a:prstDash val="solid"/>
          </a:ln>
        </p:spPr>
      </p:sp>
      <p:sp>
        <p:nvSpPr>
          <p:cNvPr id="6" name="Text 4"/>
          <p:cNvSpPr txBox="1"/>
          <p:nvPr/>
        </p:nvSpPr>
        <p:spPr>
          <a:xfrm>
            <a:off x="5257800" y="1517904"/>
            <a:ext cx="1143000" cy="329184"/>
          </a:xfrm>
          <a:prstGeom prst="rect">
            <a:avLst/>
          </a:prstGeom>
          <a:noFill/>
          <a:ln/>
        </p:spPr>
        <p:txBody>
          <a:bodyPr wrap="square" lIns="0" tIns="0" rIns="0" bIns="0" rtlCol="0" anchor="ctr"/>
          <a:lstStyle/>
          <a:p>
            <a:pPr marL="0" indent="0" algn="ctr">
              <a:buNone/>
            </a:pPr>
            <a:r>
              <a:rPr lang="en-US" sz="1200" b="1" dirty="0">
                <a:solidFill>
                  <a:schemeClr val="tx2"/>
                </a:solidFill>
              </a:rPr>
              <a:t>PENDING</a:t>
            </a:r>
            <a:endParaRPr lang="en-US" sz="1200" dirty="0"/>
          </a:p>
        </p:txBody>
      </p:sp>
      <p:sp>
        <p:nvSpPr>
          <p:cNvPr id="7" name="Test card 2"/>
          <p:cNvSpPr/>
          <p:nvPr/>
        </p:nvSpPr>
        <p:spPr>
          <a:xfrm>
            <a:off x="548640" y="2240280"/>
            <a:ext cx="6035040" cy="896112"/>
          </a:xfrm>
          <a:prstGeom prst="roundRect">
            <a:avLst>
              <a:gd name="adj" fmla="val 10204"/>
            </a:avLst>
          </a:prstGeom>
          <a:solidFill>
            <a:schemeClr val="bg1"/>
          </a:solidFill>
          <a:ln w="9525">
            <a:solidFill>
              <a:srgbClr val="D1D5DB"/>
            </a:solidFill>
            <a:prstDash val="solid"/>
          </a:ln>
          <a:effectLst>
            <a:outerShdw blurRad="76200" dist="25400" dir="5400000" algn="bl" rotWithShape="0">
              <a:srgbClr val="000000">
                <a:alpha val="10000"/>
              </a:srgbClr>
            </a:outerShdw>
          </a:effectLst>
        </p:spPr>
      </p:sp>
      <p:sp>
        <p:nvSpPr>
          <p:cNvPr id="8" name="Text 6"/>
          <p:cNvSpPr txBox="1"/>
          <p:nvPr/>
        </p:nvSpPr>
        <p:spPr>
          <a:xfrm>
            <a:off x="777240" y="2286000"/>
            <a:ext cx="4297680" cy="804672"/>
          </a:xfrm>
          <a:prstGeom prst="rect">
            <a:avLst/>
          </a:prstGeom>
          <a:noFill/>
          <a:ln/>
        </p:spPr>
        <p:txBody>
          <a:bodyPr wrap="square" lIns="0" tIns="0" rIns="0" bIns="0" rtlCol="0" anchor="ctr"/>
          <a:lstStyle/>
          <a:p>
            <a:pPr marL="0" indent="0">
              <a:buNone/>
            </a:pPr>
            <a:r>
              <a:rPr lang="en-US" sz="1500" b="1" dirty="0">
                <a:solidFill>
                  <a:schemeClr val="accent1"/>
                </a:solidFill>
              </a:rPr>
              <a:t>Test 2: Message exchange</a:t>
            </a:r>
            <a:endParaRPr lang="en-US" sz="1500" dirty="0"/>
          </a:p>
          <a:p>
            <a:pPr marL="0" indent="0">
              <a:buNone/>
            </a:pPr>
            <a:r>
              <a:rPr lang="en-US" sz="1400" dirty="0">
                <a:solidFill>
                  <a:schemeClr val="tx1"/>
                </a:solidFill>
              </a:rPr>
              <a:t>Run the prototype and verify that the producer writes five messages.</a:t>
            </a:r>
            <a:endParaRPr lang="en-US" sz="1500" dirty="0"/>
          </a:p>
        </p:txBody>
      </p:sp>
      <p:sp>
        <p:nvSpPr>
          <p:cNvPr id="9" name="Status chip"/>
          <p:cNvSpPr/>
          <p:nvPr/>
        </p:nvSpPr>
        <p:spPr>
          <a:xfrm>
            <a:off x="5257800" y="2523744"/>
            <a:ext cx="1143000" cy="329184"/>
          </a:xfrm>
          <a:prstGeom prst="roundRect">
            <a:avLst>
              <a:gd name="adj" fmla="val 22222"/>
            </a:avLst>
          </a:prstGeom>
          <a:solidFill>
            <a:schemeClr val="bg2"/>
          </a:solidFill>
          <a:ln w="12700">
            <a:solidFill>
              <a:srgbClr val="9CA3AF"/>
            </a:solidFill>
            <a:prstDash val="solid"/>
          </a:ln>
        </p:spPr>
      </p:sp>
      <p:sp>
        <p:nvSpPr>
          <p:cNvPr id="10" name="Text 8"/>
          <p:cNvSpPr txBox="1"/>
          <p:nvPr/>
        </p:nvSpPr>
        <p:spPr>
          <a:xfrm>
            <a:off x="5257800" y="2523744"/>
            <a:ext cx="1143000" cy="329184"/>
          </a:xfrm>
          <a:prstGeom prst="rect">
            <a:avLst/>
          </a:prstGeom>
          <a:noFill/>
          <a:ln/>
        </p:spPr>
        <p:txBody>
          <a:bodyPr wrap="square" lIns="0" tIns="0" rIns="0" bIns="0" rtlCol="0" anchor="ctr"/>
          <a:lstStyle/>
          <a:p>
            <a:pPr marL="0" indent="0" algn="ctr">
              <a:buNone/>
            </a:pPr>
            <a:r>
              <a:rPr lang="en-US" sz="1200" b="1" dirty="0">
                <a:solidFill>
                  <a:schemeClr val="tx2"/>
                </a:solidFill>
              </a:rPr>
              <a:t>PENDING</a:t>
            </a:r>
            <a:endParaRPr lang="en-US" sz="1200" dirty="0"/>
          </a:p>
        </p:txBody>
      </p:sp>
      <p:sp>
        <p:nvSpPr>
          <p:cNvPr id="11" name="Test card 3"/>
          <p:cNvSpPr/>
          <p:nvPr/>
        </p:nvSpPr>
        <p:spPr>
          <a:xfrm>
            <a:off x="548640" y="3246120"/>
            <a:ext cx="6035040" cy="896112"/>
          </a:xfrm>
          <a:prstGeom prst="roundRect">
            <a:avLst>
              <a:gd name="adj" fmla="val 10204"/>
            </a:avLst>
          </a:prstGeom>
          <a:solidFill>
            <a:schemeClr val="bg1"/>
          </a:solidFill>
          <a:ln w="9525">
            <a:solidFill>
              <a:srgbClr val="D1D5DB"/>
            </a:solidFill>
            <a:prstDash val="solid"/>
          </a:ln>
          <a:effectLst>
            <a:outerShdw blurRad="76200" dist="25400" dir="5400000" algn="bl" rotWithShape="0">
              <a:srgbClr val="000000">
                <a:alpha val="10000"/>
              </a:srgbClr>
            </a:outerShdw>
          </a:effectLst>
        </p:spPr>
      </p:sp>
      <p:sp>
        <p:nvSpPr>
          <p:cNvPr id="12" name="Text 10"/>
          <p:cNvSpPr txBox="1"/>
          <p:nvPr/>
        </p:nvSpPr>
        <p:spPr>
          <a:xfrm>
            <a:off x="777240" y="3291840"/>
            <a:ext cx="4297680" cy="804672"/>
          </a:xfrm>
          <a:prstGeom prst="rect">
            <a:avLst/>
          </a:prstGeom>
          <a:noFill/>
          <a:ln/>
        </p:spPr>
        <p:txBody>
          <a:bodyPr wrap="square" lIns="0" tIns="0" rIns="0" bIns="0" rtlCol="0" anchor="ctr"/>
          <a:lstStyle/>
          <a:p>
            <a:pPr marL="0" indent="0">
              <a:buNone/>
            </a:pPr>
            <a:r>
              <a:rPr lang="en-US" sz="1500" b="1" dirty="0">
                <a:solidFill>
                  <a:schemeClr val="accent1"/>
                </a:solidFill>
              </a:rPr>
              <a:t>Test 3: Data consistency</a:t>
            </a:r>
            <a:endParaRPr lang="en-US" sz="1500" dirty="0"/>
          </a:p>
          <a:p>
            <a:pPr marL="0" indent="0">
              <a:buNone/>
            </a:pPr>
            <a:r>
              <a:rPr lang="en-US" sz="1400" dirty="0">
                <a:solidFill>
                  <a:schemeClr val="tx1"/>
                </a:solidFill>
              </a:rPr>
              <a:t>Consumer receives sequence numbers 1, 2, 3, 4 and 5 with matching message contents.</a:t>
            </a:r>
            <a:endParaRPr lang="en-US" sz="1500" dirty="0"/>
          </a:p>
        </p:txBody>
      </p:sp>
      <p:sp>
        <p:nvSpPr>
          <p:cNvPr id="13" name="Status chip"/>
          <p:cNvSpPr/>
          <p:nvPr/>
        </p:nvSpPr>
        <p:spPr>
          <a:xfrm>
            <a:off x="5257800" y="3529584"/>
            <a:ext cx="1143000" cy="329184"/>
          </a:xfrm>
          <a:prstGeom prst="roundRect">
            <a:avLst>
              <a:gd name="adj" fmla="val 22222"/>
            </a:avLst>
          </a:prstGeom>
          <a:solidFill>
            <a:schemeClr val="bg2"/>
          </a:solidFill>
          <a:ln w="12700">
            <a:solidFill>
              <a:srgbClr val="9CA3AF"/>
            </a:solidFill>
            <a:prstDash val="solid"/>
          </a:ln>
        </p:spPr>
      </p:sp>
      <p:sp>
        <p:nvSpPr>
          <p:cNvPr id="14" name="Text 12"/>
          <p:cNvSpPr txBox="1"/>
          <p:nvPr/>
        </p:nvSpPr>
        <p:spPr>
          <a:xfrm>
            <a:off x="5257800" y="3529584"/>
            <a:ext cx="1143000" cy="329184"/>
          </a:xfrm>
          <a:prstGeom prst="rect">
            <a:avLst/>
          </a:prstGeom>
          <a:noFill/>
          <a:ln/>
        </p:spPr>
        <p:txBody>
          <a:bodyPr wrap="square" lIns="0" tIns="0" rIns="0" bIns="0" rtlCol="0" anchor="ctr"/>
          <a:lstStyle/>
          <a:p>
            <a:pPr marL="0" indent="0" algn="ctr">
              <a:buNone/>
            </a:pPr>
            <a:r>
              <a:rPr lang="en-US" sz="1200" b="1" dirty="0">
                <a:solidFill>
                  <a:schemeClr val="tx2"/>
                </a:solidFill>
              </a:rPr>
              <a:t>PENDING</a:t>
            </a:r>
            <a:endParaRPr lang="en-US" sz="1200" dirty="0"/>
          </a:p>
        </p:txBody>
      </p:sp>
      <p:sp>
        <p:nvSpPr>
          <p:cNvPr id="15" name="Test card 4"/>
          <p:cNvSpPr/>
          <p:nvPr/>
        </p:nvSpPr>
        <p:spPr>
          <a:xfrm>
            <a:off x="548640" y="4251960"/>
            <a:ext cx="6035040" cy="896112"/>
          </a:xfrm>
          <a:prstGeom prst="roundRect">
            <a:avLst>
              <a:gd name="adj" fmla="val 10204"/>
            </a:avLst>
          </a:prstGeom>
          <a:solidFill>
            <a:schemeClr val="bg1"/>
          </a:solidFill>
          <a:ln w="9525">
            <a:solidFill>
              <a:srgbClr val="D1D5DB"/>
            </a:solidFill>
            <a:prstDash val="solid"/>
          </a:ln>
          <a:effectLst>
            <a:outerShdw blurRad="76200" dist="25400" dir="5400000" algn="bl" rotWithShape="0">
              <a:srgbClr val="000000">
                <a:alpha val="10000"/>
              </a:srgbClr>
            </a:outerShdw>
          </a:effectLst>
        </p:spPr>
      </p:sp>
      <p:sp>
        <p:nvSpPr>
          <p:cNvPr id="16" name="Text 14"/>
          <p:cNvSpPr txBox="1"/>
          <p:nvPr/>
        </p:nvSpPr>
        <p:spPr>
          <a:xfrm>
            <a:off x="777240" y="4297680"/>
            <a:ext cx="4297680" cy="804672"/>
          </a:xfrm>
          <a:prstGeom prst="rect">
            <a:avLst/>
          </a:prstGeom>
          <a:noFill/>
          <a:ln/>
        </p:spPr>
        <p:txBody>
          <a:bodyPr wrap="square" lIns="0" tIns="0" rIns="0" bIns="0" rtlCol="0" anchor="ctr"/>
          <a:lstStyle/>
          <a:p>
            <a:pPr marL="0" indent="0">
              <a:buNone/>
            </a:pPr>
            <a:r>
              <a:rPr lang="en-US" sz="1500" b="1" dirty="0">
                <a:solidFill>
                  <a:schemeClr val="accent1"/>
                </a:solidFill>
              </a:rPr>
              <a:t>Test 4: Completion</a:t>
            </a:r>
            <a:endParaRPr lang="en-US" sz="1500" dirty="0"/>
          </a:p>
          <a:p>
            <a:pPr marL="0" indent="0">
              <a:buNone/>
            </a:pPr>
            <a:r>
              <a:rPr lang="en-US" sz="1400" dirty="0">
                <a:solidFill>
                  <a:schemeClr val="tx1"/>
                </a:solidFill>
              </a:rPr>
              <a:t>Verify that the consumer exits after receiving the completion signal.</a:t>
            </a:r>
            <a:endParaRPr lang="en-US" sz="1500" dirty="0"/>
          </a:p>
        </p:txBody>
      </p:sp>
      <p:sp>
        <p:nvSpPr>
          <p:cNvPr id="17" name="Status chip"/>
          <p:cNvSpPr/>
          <p:nvPr/>
        </p:nvSpPr>
        <p:spPr>
          <a:xfrm>
            <a:off x="5257800" y="4535424"/>
            <a:ext cx="1143000" cy="329184"/>
          </a:xfrm>
          <a:prstGeom prst="roundRect">
            <a:avLst>
              <a:gd name="adj" fmla="val 22222"/>
            </a:avLst>
          </a:prstGeom>
          <a:solidFill>
            <a:schemeClr val="bg2"/>
          </a:solidFill>
          <a:ln w="12700">
            <a:solidFill>
              <a:srgbClr val="9CA3AF"/>
            </a:solidFill>
            <a:prstDash val="solid"/>
          </a:ln>
        </p:spPr>
      </p:sp>
      <p:sp>
        <p:nvSpPr>
          <p:cNvPr id="18" name="Text 16"/>
          <p:cNvSpPr txBox="1"/>
          <p:nvPr/>
        </p:nvSpPr>
        <p:spPr>
          <a:xfrm>
            <a:off x="5257800" y="4535424"/>
            <a:ext cx="1143000" cy="329184"/>
          </a:xfrm>
          <a:prstGeom prst="rect">
            <a:avLst/>
          </a:prstGeom>
          <a:noFill/>
          <a:ln/>
        </p:spPr>
        <p:txBody>
          <a:bodyPr wrap="square" lIns="0" tIns="0" rIns="0" bIns="0" rtlCol="0" anchor="ctr"/>
          <a:lstStyle/>
          <a:p>
            <a:pPr marL="0" indent="0" algn="ctr">
              <a:buNone/>
            </a:pPr>
            <a:r>
              <a:rPr lang="en-US" sz="1200" b="1" dirty="0">
                <a:solidFill>
                  <a:schemeClr val="tx2"/>
                </a:solidFill>
              </a:rPr>
              <a:t>PENDING</a:t>
            </a:r>
            <a:endParaRPr lang="en-US" sz="1200" dirty="0"/>
          </a:p>
        </p:txBody>
      </p:sp>
      <p:sp>
        <p:nvSpPr>
          <p:cNvPr id="19" name="Test card 5"/>
          <p:cNvSpPr/>
          <p:nvPr/>
        </p:nvSpPr>
        <p:spPr>
          <a:xfrm>
            <a:off x="548640" y="5257800"/>
            <a:ext cx="6035040" cy="896112"/>
          </a:xfrm>
          <a:prstGeom prst="roundRect">
            <a:avLst>
              <a:gd name="adj" fmla="val 10204"/>
            </a:avLst>
          </a:prstGeom>
          <a:solidFill>
            <a:schemeClr val="bg1"/>
          </a:solidFill>
          <a:ln w="9525">
            <a:solidFill>
              <a:srgbClr val="D1D5DB"/>
            </a:solidFill>
            <a:prstDash val="solid"/>
          </a:ln>
          <a:effectLst>
            <a:outerShdw blurRad="76200" dist="25400" dir="5400000" algn="bl" rotWithShape="0">
              <a:srgbClr val="000000">
                <a:alpha val="10000"/>
              </a:srgbClr>
            </a:outerShdw>
          </a:effectLst>
        </p:spPr>
      </p:sp>
      <p:sp>
        <p:nvSpPr>
          <p:cNvPr id="20" name="Text 18"/>
          <p:cNvSpPr txBox="1"/>
          <p:nvPr/>
        </p:nvSpPr>
        <p:spPr>
          <a:xfrm>
            <a:off x="777240" y="5303520"/>
            <a:ext cx="4297680" cy="804672"/>
          </a:xfrm>
          <a:prstGeom prst="rect">
            <a:avLst/>
          </a:prstGeom>
          <a:noFill/>
          <a:ln/>
        </p:spPr>
        <p:txBody>
          <a:bodyPr wrap="square" lIns="0" tIns="0" rIns="0" bIns="0" rtlCol="0" anchor="ctr"/>
          <a:lstStyle/>
          <a:p>
            <a:pPr marL="0" indent="0">
              <a:buNone/>
            </a:pPr>
            <a:r>
              <a:rPr lang="en-US" sz="1500" b="1" dirty="0">
                <a:solidFill>
                  <a:schemeClr val="accent1"/>
                </a:solidFill>
              </a:rPr>
              <a:t>Test 5: Repeated execution</a:t>
            </a:r>
            <a:endParaRPr lang="en-US" sz="1500" dirty="0"/>
          </a:p>
          <a:p>
            <a:pPr marL="0" indent="0">
              <a:buNone/>
            </a:pPr>
            <a:r>
              <a:rPr lang="en-US" sz="1400" dirty="0">
                <a:solidFill>
                  <a:schemeClr val="tx1"/>
                </a:solidFill>
              </a:rPr>
              <a:t>Run the program multiple times and check for normal completion.</a:t>
            </a:r>
            <a:endParaRPr lang="en-US" sz="1500" dirty="0"/>
          </a:p>
        </p:txBody>
      </p:sp>
      <p:sp>
        <p:nvSpPr>
          <p:cNvPr id="21" name="Status chip"/>
          <p:cNvSpPr/>
          <p:nvPr/>
        </p:nvSpPr>
        <p:spPr>
          <a:xfrm>
            <a:off x="5257800" y="5541264"/>
            <a:ext cx="1143000" cy="329184"/>
          </a:xfrm>
          <a:prstGeom prst="roundRect">
            <a:avLst>
              <a:gd name="adj" fmla="val 22222"/>
            </a:avLst>
          </a:prstGeom>
          <a:solidFill>
            <a:schemeClr val="bg2"/>
          </a:solidFill>
          <a:ln w="12700">
            <a:solidFill>
              <a:srgbClr val="9CA3AF"/>
            </a:solidFill>
            <a:prstDash val="solid"/>
          </a:ln>
        </p:spPr>
      </p:sp>
      <p:sp>
        <p:nvSpPr>
          <p:cNvPr id="22" name="Text 20"/>
          <p:cNvSpPr txBox="1"/>
          <p:nvPr/>
        </p:nvSpPr>
        <p:spPr>
          <a:xfrm>
            <a:off x="5257800" y="5541264"/>
            <a:ext cx="1143000" cy="329184"/>
          </a:xfrm>
          <a:prstGeom prst="rect">
            <a:avLst/>
          </a:prstGeom>
          <a:noFill/>
          <a:ln/>
        </p:spPr>
        <p:txBody>
          <a:bodyPr wrap="square" lIns="0" tIns="0" rIns="0" bIns="0" rtlCol="0" anchor="ctr"/>
          <a:lstStyle/>
          <a:p>
            <a:pPr marL="0" indent="0" algn="ctr">
              <a:buNone/>
            </a:pPr>
            <a:r>
              <a:rPr lang="en-US" sz="1200" b="1" dirty="0">
                <a:solidFill>
                  <a:schemeClr val="tx2"/>
                </a:solidFill>
              </a:rPr>
              <a:t>PENDING</a:t>
            </a:r>
            <a:endParaRPr lang="en-US" sz="1200" dirty="0"/>
          </a:p>
        </p:txBody>
      </p:sp>
      <p:sp>
        <p:nvSpPr>
          <p:cNvPr id="23" name="Screenshot placeholder"/>
          <p:cNvSpPr/>
          <p:nvPr/>
        </p:nvSpPr>
        <p:spPr>
          <a:xfrm>
            <a:off x="6858000" y="1234440"/>
            <a:ext cx="4754880" cy="3429000"/>
          </a:xfrm>
          <a:prstGeom prst="roundRect">
            <a:avLst>
              <a:gd name="adj" fmla="val 2667"/>
            </a:avLst>
          </a:prstGeom>
          <a:solidFill>
            <a:schemeClr val="bg1"/>
          </a:solidFill>
          <a:ln w="19050">
            <a:solidFill>
              <a:schemeClr val="accent1"/>
            </a:solidFill>
            <a:prstDash val="dash"/>
          </a:ln>
          <a:effectLst>
            <a:outerShdw blurRad="76200" dist="25400" dir="5400000" algn="bl" rotWithShape="0">
              <a:srgbClr val="000000">
                <a:alpha val="10000"/>
              </a:srgbClr>
            </a:outerShdw>
          </a:effectLst>
        </p:spPr>
      </p:sp>
      <p:pic>
        <p:nvPicPr>
          <p:cNvPr id="24" name="Image 0" descr="terminal placeholder icon"/>
          <p:cNvPicPr>
            <a:picLocks noChangeAspect="1"/>
          </p:cNvPicPr>
          <p:nvPr/>
        </p:nvPicPr>
        <p:blipFill>
          <a:blip r:embed="rId3"/>
          <a:stretch>
            <a:fillRect/>
          </a:stretch>
        </p:blipFill>
        <p:spPr>
          <a:xfrm>
            <a:off x="8823960" y="1737360"/>
            <a:ext cx="822960" cy="822960"/>
          </a:xfrm>
          <a:prstGeom prst="rect">
            <a:avLst/>
          </a:prstGeom>
        </p:spPr>
      </p:pic>
      <p:sp>
        <p:nvSpPr>
          <p:cNvPr id="25" name="Text 22"/>
          <p:cNvSpPr txBox="1"/>
          <p:nvPr/>
        </p:nvSpPr>
        <p:spPr>
          <a:xfrm>
            <a:off x="7132320" y="2743200"/>
            <a:ext cx="4206240" cy="1737360"/>
          </a:xfrm>
          <a:prstGeom prst="rect">
            <a:avLst/>
          </a:prstGeom>
          <a:noFill/>
          <a:ln/>
        </p:spPr>
        <p:txBody>
          <a:bodyPr wrap="square" lIns="0" tIns="0" rIns="0" bIns="0" rtlCol="0" anchor="t"/>
          <a:lstStyle/>
          <a:p>
            <a:pPr marL="0" indent="0" algn="ctr">
              <a:buNone/>
            </a:pPr>
            <a:r>
              <a:rPr lang="en-US" sz="1600" b="1" dirty="0">
                <a:solidFill>
                  <a:schemeClr val="accent1"/>
                </a:solidFill>
              </a:rPr>
              <a:t>[Insert Ubuntu terminal screenshot]</a:t>
            </a:r>
            <a:endParaRPr lang="en-US" sz="1600" dirty="0"/>
          </a:p>
          <a:p>
            <a:pPr marL="0" indent="0" algn="ctr">
              <a:buNone/>
            </a:pPr>
            <a:r>
              <a:rPr lang="en-US" sz="1400" dirty="0">
                <a:solidFill>
                  <a:schemeClr val="tx2"/>
                </a:solidFill>
              </a:rPr>
              <a:t>Show producer output, consumer output, and successful completion after running the program.</a:t>
            </a:r>
            <a:endParaRPr lang="en-US" sz="1600" dirty="0"/>
          </a:p>
        </p:txBody>
      </p:sp>
      <p:sp>
        <p:nvSpPr>
          <p:cNvPr id="26" name="Expected result panel"/>
          <p:cNvSpPr/>
          <p:nvPr/>
        </p:nvSpPr>
        <p:spPr>
          <a:xfrm>
            <a:off x="6858000" y="4846320"/>
            <a:ext cx="4754880" cy="1417320"/>
          </a:xfrm>
          <a:prstGeom prst="roundRect">
            <a:avLst>
              <a:gd name="adj" fmla="val 6452"/>
            </a:avLst>
          </a:prstGeom>
          <a:solidFill>
            <a:schemeClr val="accent2"/>
          </a:solidFill>
          <a:ln w="15875">
            <a:solidFill>
              <a:schemeClr val="accent1"/>
            </a:solidFill>
            <a:prstDash val="solid"/>
          </a:ln>
        </p:spPr>
      </p:sp>
      <p:sp>
        <p:nvSpPr>
          <p:cNvPr id="27" name="Text 24"/>
          <p:cNvSpPr txBox="1"/>
          <p:nvPr/>
        </p:nvSpPr>
        <p:spPr>
          <a:xfrm>
            <a:off x="7086600" y="4892040"/>
            <a:ext cx="4297680" cy="1325880"/>
          </a:xfrm>
          <a:prstGeom prst="rect">
            <a:avLst/>
          </a:prstGeom>
          <a:noFill/>
          <a:ln/>
        </p:spPr>
        <p:txBody>
          <a:bodyPr wrap="square" lIns="0" tIns="0" rIns="0" bIns="0" rtlCol="0" anchor="ctr"/>
          <a:lstStyle/>
          <a:p>
            <a:pPr marL="0" indent="0">
              <a:buNone/>
            </a:pPr>
            <a:r>
              <a:rPr lang="en-US" sz="1500" b="1" dirty="0">
                <a:solidFill>
                  <a:schemeClr val="accent1"/>
                </a:solidFill>
              </a:rPr>
              <a:t>Expected result (verify by running)</a:t>
            </a:r>
            <a:endParaRPr lang="en-US" sz="1500" dirty="0"/>
          </a:p>
          <a:p>
            <a:pPr marL="0" indent="0">
              <a:buNone/>
            </a:pPr>
            <a:r>
              <a:rPr lang="en-US" sz="1400" dirty="0">
                <a:solidFill>
                  <a:schemeClr val="tx1"/>
                </a:solidFill>
              </a:rPr>
              <a:t>Consumer receives all five messages in sequence, receives the completion signal, and terminates.</a:t>
            </a:r>
            <a:endParaRPr lang="en-US" sz="1500" dirty="0"/>
          </a:p>
        </p:txBody>
      </p:sp>
      <p:sp>
        <p:nvSpPr>
          <p:cNvPr id="28" name="Slide Number Placeholder 0"/>
          <p:cNvSpPr>
            <a:spLocks noGrp="1"/>
          </p:cNvSpPr>
          <p:nvPr>
            <p:ph type="sldNum" sz="quarter" idx="4294967295"/>
          </p:nvPr>
        </p:nvSpPr>
        <p:spPr>
          <a:xfrm>
            <a:off x="10881360" y="6419088"/>
            <a:ext cx="75895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lIns="0" tIns="0" rIns="0" bIns="0" rtlCol="0" anchor="ctr"/>
          <a:lstStyle/>
          <a:p>
            <a:pPr marL="0" indent="0" algn="l">
              <a:buNone/>
            </a:pPr>
            <a:r>
              <a:rPr lang="en-US" sz="3200" b="1" dirty="0">
                <a:solidFill>
                  <a:schemeClr val="accent1"/>
                </a:solidFill>
              </a:rPr>
              <a:t>Applications and Future Enhancements</a:t>
            </a:r>
            <a:endParaRPr lang="en-US" sz="3200" dirty="0"/>
          </a:p>
        </p:txBody>
      </p:sp>
      <p:sp>
        <p:nvSpPr>
          <p:cNvPr id="3" name="Applications card"/>
          <p:cNvSpPr/>
          <p:nvPr/>
        </p:nvSpPr>
        <p:spPr>
          <a:xfrm>
            <a:off x="548640" y="1234440"/>
            <a:ext cx="5440680" cy="2697480"/>
          </a:xfrm>
          <a:prstGeom prst="roundRect">
            <a:avLst>
              <a:gd name="adj" fmla="val 3390"/>
            </a:avLst>
          </a:prstGeom>
          <a:solidFill>
            <a:schemeClr val="bg1"/>
          </a:solidFill>
          <a:ln w="9525">
            <a:solidFill>
              <a:srgbClr val="D1D5DB"/>
            </a:solidFill>
            <a:prstDash val="solid"/>
          </a:ln>
          <a:effectLst>
            <a:outerShdw blurRad="76200" dist="25400" dir="5400000" algn="bl" rotWithShape="0">
              <a:srgbClr val="000000">
                <a:alpha val="10000"/>
              </a:srgbClr>
            </a:outerShdw>
          </a:effectLst>
        </p:spPr>
      </p:sp>
      <p:sp>
        <p:nvSpPr>
          <p:cNvPr id="4" name="Text 2"/>
          <p:cNvSpPr txBox="1"/>
          <p:nvPr/>
        </p:nvSpPr>
        <p:spPr>
          <a:xfrm>
            <a:off x="822960" y="1344168"/>
            <a:ext cx="4892040" cy="411480"/>
          </a:xfrm>
          <a:prstGeom prst="rect">
            <a:avLst/>
          </a:prstGeom>
          <a:noFill/>
          <a:ln/>
        </p:spPr>
        <p:txBody>
          <a:bodyPr wrap="square" lIns="0" tIns="0" rIns="0" bIns="0" rtlCol="0" anchor="ctr"/>
          <a:lstStyle/>
          <a:p>
            <a:pPr marL="0" indent="0">
              <a:buNone/>
            </a:pPr>
            <a:r>
              <a:rPr lang="en-US" sz="1700" b="1" dirty="0">
                <a:solidFill>
                  <a:schemeClr val="accent1"/>
                </a:solidFill>
              </a:rPr>
              <a:t>Applications</a:t>
            </a:r>
            <a:endParaRPr lang="en-US" sz="1700" dirty="0"/>
          </a:p>
        </p:txBody>
      </p:sp>
      <p:sp>
        <p:nvSpPr>
          <p:cNvPr id="5" name="Text 3"/>
          <p:cNvSpPr txBox="1"/>
          <p:nvPr/>
        </p:nvSpPr>
        <p:spPr>
          <a:xfrm>
            <a:off x="822960" y="1828800"/>
            <a:ext cx="4892040" cy="201168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chemeClr val="tx1"/>
                </a:solidFill>
              </a:rPr>
              <a:t>Communication between cooperating local processes.</a:t>
            </a:r>
            <a:endParaRPr lang="en-US" sz="1600" dirty="0"/>
          </a:p>
          <a:p>
            <a:pPr marL="203200" indent="-203200">
              <a:spcAft>
                <a:spcPts val="600"/>
              </a:spcAft>
              <a:buSzPct val="100000"/>
              <a:buChar char="•"/>
            </a:pPr>
            <a:r>
              <a:rPr lang="en-US" sz="1600" dirty="0">
                <a:solidFill>
                  <a:schemeClr val="tx1"/>
                </a:solidFill>
              </a:rPr>
              <a:t>Producer-consumer systems.</a:t>
            </a:r>
            <a:endParaRPr lang="en-US" sz="1600" dirty="0"/>
          </a:p>
          <a:p>
            <a:pPr marL="203200" indent="-203200">
              <a:spcAft>
                <a:spcPts val="600"/>
              </a:spcAft>
              <a:buSzPct val="100000"/>
              <a:buChar char="•"/>
            </a:pPr>
            <a:r>
              <a:rPr lang="en-US" sz="1600" dirty="0">
                <a:solidFill>
                  <a:schemeClr val="tx1"/>
                </a:solidFill>
              </a:rPr>
              <a:t>Operating-system and systems-programming demonstrations.</a:t>
            </a:r>
            <a:endParaRPr lang="en-US" sz="1600" dirty="0"/>
          </a:p>
          <a:p>
            <a:pPr marL="203200" indent="-203200">
              <a:spcAft>
                <a:spcPts val="600"/>
              </a:spcAft>
              <a:buSzPct val="100000"/>
              <a:buChar char="•"/>
            </a:pPr>
            <a:r>
              <a:rPr lang="en-US" sz="1600" dirty="0">
                <a:solidFill>
                  <a:schemeClr val="tx1"/>
                </a:solidFill>
              </a:rPr>
              <a:t>Low-overhead data exchange between applications on the same machine.</a:t>
            </a:r>
            <a:endParaRPr lang="en-US" sz="1600" dirty="0"/>
          </a:p>
        </p:txBody>
      </p:sp>
      <p:sp>
        <p:nvSpPr>
          <p:cNvPr id="6" name="Project Impact card"/>
          <p:cNvSpPr/>
          <p:nvPr/>
        </p:nvSpPr>
        <p:spPr>
          <a:xfrm>
            <a:off x="548640" y="4114800"/>
            <a:ext cx="5440680" cy="2148840"/>
          </a:xfrm>
          <a:prstGeom prst="roundRect">
            <a:avLst>
              <a:gd name="adj" fmla="val 4255"/>
            </a:avLst>
          </a:prstGeom>
          <a:solidFill>
            <a:schemeClr val="bg1"/>
          </a:solidFill>
          <a:ln w="9525">
            <a:solidFill>
              <a:srgbClr val="D1D5DB"/>
            </a:solidFill>
            <a:prstDash val="solid"/>
          </a:ln>
          <a:effectLst>
            <a:outerShdw blurRad="76200" dist="25400" dir="5400000" algn="bl" rotWithShape="0">
              <a:srgbClr val="000000">
                <a:alpha val="10000"/>
              </a:srgbClr>
            </a:outerShdw>
          </a:effectLst>
        </p:spPr>
      </p:sp>
      <p:sp>
        <p:nvSpPr>
          <p:cNvPr id="7" name="Text 5"/>
          <p:cNvSpPr txBox="1"/>
          <p:nvPr/>
        </p:nvSpPr>
        <p:spPr>
          <a:xfrm>
            <a:off x="822960" y="4224528"/>
            <a:ext cx="4892040" cy="411480"/>
          </a:xfrm>
          <a:prstGeom prst="rect">
            <a:avLst/>
          </a:prstGeom>
          <a:noFill/>
          <a:ln/>
        </p:spPr>
        <p:txBody>
          <a:bodyPr wrap="square" lIns="0" tIns="0" rIns="0" bIns="0" rtlCol="0" anchor="ctr"/>
          <a:lstStyle/>
          <a:p>
            <a:pPr marL="0" indent="0">
              <a:buNone/>
            </a:pPr>
            <a:r>
              <a:rPr lang="en-US" sz="1700" b="1" dirty="0">
                <a:solidFill>
                  <a:schemeClr val="accent1"/>
                </a:solidFill>
              </a:rPr>
              <a:t>Project Impact</a:t>
            </a:r>
            <a:endParaRPr lang="en-US" sz="1700" dirty="0"/>
          </a:p>
        </p:txBody>
      </p:sp>
      <p:sp>
        <p:nvSpPr>
          <p:cNvPr id="8" name="Text 6"/>
          <p:cNvSpPr txBox="1"/>
          <p:nvPr/>
        </p:nvSpPr>
        <p:spPr>
          <a:xfrm>
            <a:off x="822960" y="4709160"/>
            <a:ext cx="4892040" cy="146304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chemeClr val="tx1"/>
                </a:solidFill>
              </a:rPr>
              <a:t>Demonstrates inter-process communication.</a:t>
            </a:r>
            <a:endParaRPr lang="en-US" sz="1600" dirty="0"/>
          </a:p>
          <a:p>
            <a:pPr marL="203200" indent="-203200">
              <a:spcAft>
                <a:spcPts val="600"/>
              </a:spcAft>
              <a:buSzPct val="100000"/>
              <a:buChar char="•"/>
            </a:pPr>
            <a:r>
              <a:rPr lang="en-US" sz="1600" dirty="0">
                <a:solidFill>
                  <a:schemeClr val="tx1"/>
                </a:solidFill>
              </a:rPr>
              <a:t>Illustrates synchronization and race-condition prevention.</a:t>
            </a:r>
            <a:endParaRPr lang="en-US" sz="1600" dirty="0"/>
          </a:p>
          <a:p>
            <a:pPr marL="203200" indent="-203200">
              <a:spcAft>
                <a:spcPts val="600"/>
              </a:spcAft>
              <a:buSzPct val="100000"/>
              <a:buChar char="•"/>
            </a:pPr>
            <a:r>
              <a:rPr lang="en-US" sz="1600" dirty="0">
                <a:solidFill>
                  <a:schemeClr val="tx1"/>
                </a:solidFill>
              </a:rPr>
              <a:t>Foundation for more advanced shared-memory systems.</a:t>
            </a:r>
            <a:endParaRPr lang="en-US" sz="1600" dirty="0"/>
          </a:p>
        </p:txBody>
      </p:sp>
      <p:sp>
        <p:nvSpPr>
          <p:cNvPr id="9" name="Current Limitations card"/>
          <p:cNvSpPr/>
          <p:nvPr/>
        </p:nvSpPr>
        <p:spPr>
          <a:xfrm>
            <a:off x="6217920" y="1234440"/>
            <a:ext cx="5394960" cy="2011680"/>
          </a:xfrm>
          <a:prstGeom prst="roundRect">
            <a:avLst>
              <a:gd name="adj" fmla="val 4545"/>
            </a:avLst>
          </a:prstGeom>
          <a:solidFill>
            <a:schemeClr val="bg1"/>
          </a:solidFill>
          <a:ln w="9525">
            <a:solidFill>
              <a:srgbClr val="D1D5DB"/>
            </a:solidFill>
            <a:prstDash val="solid"/>
          </a:ln>
          <a:effectLst>
            <a:outerShdw blurRad="76200" dist="25400" dir="5400000" algn="bl" rotWithShape="0">
              <a:srgbClr val="000000">
                <a:alpha val="10000"/>
              </a:srgbClr>
            </a:outerShdw>
          </a:effectLst>
        </p:spPr>
      </p:sp>
      <p:sp>
        <p:nvSpPr>
          <p:cNvPr id="10" name="Text 8"/>
          <p:cNvSpPr txBox="1"/>
          <p:nvPr/>
        </p:nvSpPr>
        <p:spPr>
          <a:xfrm>
            <a:off x="6492240" y="1344168"/>
            <a:ext cx="4846320" cy="411480"/>
          </a:xfrm>
          <a:prstGeom prst="rect">
            <a:avLst/>
          </a:prstGeom>
          <a:noFill/>
          <a:ln/>
        </p:spPr>
        <p:txBody>
          <a:bodyPr wrap="square" lIns="0" tIns="0" rIns="0" bIns="0" rtlCol="0" anchor="ctr"/>
          <a:lstStyle/>
          <a:p>
            <a:pPr marL="0" indent="0">
              <a:buNone/>
            </a:pPr>
            <a:r>
              <a:rPr lang="en-US" sz="1700" b="1" dirty="0">
                <a:solidFill>
                  <a:schemeClr val="accent1"/>
                </a:solidFill>
              </a:rPr>
              <a:t>Current Limitations</a:t>
            </a:r>
            <a:endParaRPr lang="en-US" sz="1700" dirty="0"/>
          </a:p>
        </p:txBody>
      </p:sp>
      <p:sp>
        <p:nvSpPr>
          <p:cNvPr id="11" name="Text 9"/>
          <p:cNvSpPr txBox="1"/>
          <p:nvPr/>
        </p:nvSpPr>
        <p:spPr>
          <a:xfrm>
            <a:off x="6492240" y="1828800"/>
            <a:ext cx="4846320" cy="132588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chemeClr val="tx1"/>
                </a:solidFill>
              </a:rPr>
              <a:t>One producer and one consumer.</a:t>
            </a:r>
            <a:endParaRPr lang="en-US" sz="1600" dirty="0"/>
          </a:p>
          <a:p>
            <a:pPr marL="203200" indent="-203200">
              <a:spcAft>
                <a:spcPts val="600"/>
              </a:spcAft>
              <a:buSzPct val="100000"/>
              <a:buChar char="•"/>
            </a:pPr>
            <a:r>
              <a:rPr lang="en-US" sz="1600" dirty="0">
                <a:solidFill>
                  <a:schemeClr val="tx1"/>
                </a:solidFill>
              </a:rPr>
              <a:t>One shared message slot.</a:t>
            </a:r>
            <a:endParaRPr lang="en-US" sz="1600" dirty="0"/>
          </a:p>
          <a:p>
            <a:pPr marL="203200" indent="-203200">
              <a:spcAft>
                <a:spcPts val="600"/>
              </a:spcAft>
              <a:buSzPct val="100000"/>
              <a:buChar char="•"/>
            </a:pPr>
            <a:r>
              <a:rPr lang="en-US" sz="1600" dirty="0">
                <a:solidFill>
                  <a:schemeClr val="tx1"/>
                </a:solidFill>
              </a:rPr>
              <a:t>No crash recovery or persistent message storage.</a:t>
            </a:r>
            <a:endParaRPr lang="en-US" sz="1600" dirty="0"/>
          </a:p>
          <a:p>
            <a:pPr marL="203200" indent="-203200">
              <a:spcAft>
                <a:spcPts val="600"/>
              </a:spcAft>
              <a:buSzPct val="100000"/>
              <a:buChar char="•"/>
            </a:pPr>
            <a:r>
              <a:rPr lang="en-US" sz="1600" dirty="0">
                <a:solidFill>
                  <a:schemeClr val="tx1"/>
                </a:solidFill>
              </a:rPr>
              <a:t>No graphical monitoring interface.</a:t>
            </a:r>
            <a:endParaRPr lang="en-US" sz="1600" dirty="0"/>
          </a:p>
        </p:txBody>
      </p:sp>
      <p:sp>
        <p:nvSpPr>
          <p:cNvPr id="12" name="Future Enhancements card"/>
          <p:cNvSpPr/>
          <p:nvPr/>
        </p:nvSpPr>
        <p:spPr>
          <a:xfrm>
            <a:off x="6217920" y="3429000"/>
            <a:ext cx="5394960" cy="2834640"/>
          </a:xfrm>
          <a:prstGeom prst="roundRect">
            <a:avLst>
              <a:gd name="adj" fmla="val 3226"/>
            </a:avLst>
          </a:prstGeom>
          <a:solidFill>
            <a:schemeClr val="bg1"/>
          </a:solidFill>
          <a:ln w="9525">
            <a:solidFill>
              <a:srgbClr val="D1D5DB"/>
            </a:solidFill>
            <a:prstDash val="solid"/>
          </a:ln>
          <a:effectLst>
            <a:outerShdw blurRad="76200" dist="25400" dir="5400000" algn="bl" rotWithShape="0">
              <a:srgbClr val="000000">
                <a:alpha val="10000"/>
              </a:srgbClr>
            </a:outerShdw>
          </a:effectLst>
        </p:spPr>
      </p:sp>
      <p:sp>
        <p:nvSpPr>
          <p:cNvPr id="13" name="Text 11"/>
          <p:cNvSpPr txBox="1"/>
          <p:nvPr/>
        </p:nvSpPr>
        <p:spPr>
          <a:xfrm>
            <a:off x="6492240" y="3538728"/>
            <a:ext cx="4846320" cy="411480"/>
          </a:xfrm>
          <a:prstGeom prst="rect">
            <a:avLst/>
          </a:prstGeom>
          <a:noFill/>
          <a:ln/>
        </p:spPr>
        <p:txBody>
          <a:bodyPr wrap="square" lIns="0" tIns="0" rIns="0" bIns="0" rtlCol="0" anchor="ctr"/>
          <a:lstStyle/>
          <a:p>
            <a:pPr marL="0" indent="0">
              <a:buNone/>
            </a:pPr>
            <a:r>
              <a:rPr lang="en-US" sz="1700" b="1" dirty="0">
                <a:solidFill>
                  <a:schemeClr val="accent1"/>
                </a:solidFill>
              </a:rPr>
              <a:t>Future Enhancements</a:t>
            </a:r>
            <a:endParaRPr lang="en-US" sz="1700" dirty="0"/>
          </a:p>
        </p:txBody>
      </p:sp>
      <p:sp>
        <p:nvSpPr>
          <p:cNvPr id="14" name="Text 12"/>
          <p:cNvSpPr txBox="1"/>
          <p:nvPr/>
        </p:nvSpPr>
        <p:spPr>
          <a:xfrm>
            <a:off x="6492240" y="4023360"/>
            <a:ext cx="4846320" cy="214884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chemeClr val="tx1"/>
                </a:solidFill>
              </a:rPr>
              <a:t>Circular buffer supporting multiple queued messages.</a:t>
            </a:r>
            <a:endParaRPr lang="en-US" sz="1600" dirty="0"/>
          </a:p>
          <a:p>
            <a:pPr marL="203200" indent="-203200">
              <a:spcAft>
                <a:spcPts val="600"/>
              </a:spcAft>
              <a:buSzPct val="100000"/>
              <a:buChar char="•"/>
            </a:pPr>
            <a:r>
              <a:rPr lang="en-US" sz="1600" dirty="0">
                <a:solidFill>
                  <a:schemeClr val="tx1"/>
                </a:solidFill>
              </a:rPr>
              <a:t>Multiple producers and consumers.</a:t>
            </a:r>
            <a:endParaRPr lang="en-US" sz="1600" dirty="0"/>
          </a:p>
          <a:p>
            <a:pPr marL="203200" indent="-203200">
              <a:spcAft>
                <a:spcPts val="600"/>
              </a:spcAft>
              <a:buSzPct val="100000"/>
              <a:buChar char="•"/>
            </a:pPr>
            <a:r>
              <a:rPr lang="en-US" sz="1600" dirty="0">
                <a:solidFill>
                  <a:schemeClr val="tx1"/>
                </a:solidFill>
              </a:rPr>
              <a:t>Robust error handling and crash recovery.</a:t>
            </a:r>
            <a:endParaRPr lang="en-US" sz="1600" dirty="0"/>
          </a:p>
          <a:p>
            <a:pPr marL="203200" indent="-203200">
              <a:spcAft>
                <a:spcPts val="600"/>
              </a:spcAft>
              <a:buSzPct val="100000"/>
              <a:buChar char="•"/>
            </a:pPr>
            <a:r>
              <a:rPr lang="en-US" sz="1600" dirty="0">
                <a:solidFill>
                  <a:schemeClr val="tx1"/>
                </a:solidFill>
              </a:rPr>
              <a:t>Performance measurement and comparison with other IPC mechanisms.</a:t>
            </a:r>
            <a:endParaRPr lang="en-US" sz="1600" dirty="0"/>
          </a:p>
          <a:p>
            <a:pPr marL="203200" indent="-203200">
              <a:spcAft>
                <a:spcPts val="600"/>
              </a:spcAft>
              <a:buSzPct val="100000"/>
              <a:buChar char="•"/>
            </a:pPr>
            <a:r>
              <a:rPr lang="en-US" sz="1600" dirty="0">
                <a:solidFill>
                  <a:schemeClr val="tx1"/>
                </a:solidFill>
              </a:rPr>
              <a:t>A monitoring interface for process activity.</a:t>
            </a:r>
            <a:endParaRPr lang="en-US" sz="1600" dirty="0"/>
          </a:p>
        </p:txBody>
      </p:sp>
      <p:sp>
        <p:nvSpPr>
          <p:cNvPr id="25" name="Slide Number Placeholder 0"/>
          <p:cNvSpPr>
            <a:spLocks noGrp="1"/>
          </p:cNvSpPr>
          <p:nvPr>
            <p:ph type="sldNum" sz="quarter" idx="4294967295"/>
          </p:nvPr>
        </p:nvSpPr>
        <p:spPr>
          <a:xfrm>
            <a:off x="10881360" y="6419088"/>
            <a:ext cx="75895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lIns="0" tIns="0" rIns="0" bIns="0" rtlCol="0" anchor="ctr"/>
          <a:lstStyle/>
          <a:p>
            <a:pPr marL="0" indent="0" algn="l">
              <a:buNone/>
            </a:pPr>
            <a:r>
              <a:rPr lang="en-US" sz="3200" b="1" dirty="0">
                <a:solidFill>
                  <a:schemeClr val="accent1"/>
                </a:solidFill>
              </a:rPr>
              <a:t>Conclusion</a:t>
            </a:r>
            <a:endParaRPr lang="en-US" sz="3200" dirty="0"/>
          </a:p>
        </p:txBody>
      </p:sp>
      <p:sp>
        <p:nvSpPr>
          <p:cNvPr id="3" name="Conclusion card"/>
          <p:cNvSpPr/>
          <p:nvPr/>
        </p:nvSpPr>
        <p:spPr>
          <a:xfrm>
            <a:off x="548640" y="1280160"/>
            <a:ext cx="5760720" cy="4983480"/>
          </a:xfrm>
          <a:prstGeom prst="roundRect">
            <a:avLst>
              <a:gd name="adj" fmla="val 1835"/>
            </a:avLst>
          </a:prstGeom>
          <a:solidFill>
            <a:schemeClr val="bg1"/>
          </a:solidFill>
          <a:ln w="9525">
            <a:solidFill>
              <a:srgbClr val="D1D5DB"/>
            </a:solidFill>
            <a:prstDash val="solid"/>
          </a:ln>
          <a:effectLst>
            <a:outerShdw blurRad="76200" dist="25400" dir="5400000" algn="bl" rotWithShape="0">
              <a:srgbClr val="000000">
                <a:alpha val="10000"/>
              </a:srgbClr>
            </a:outerShdw>
          </a:effectLst>
        </p:spPr>
      </p:sp>
      <p:sp>
        <p:nvSpPr>
          <p:cNvPr id="4" name="Text 2"/>
          <p:cNvSpPr txBox="1"/>
          <p:nvPr/>
        </p:nvSpPr>
        <p:spPr>
          <a:xfrm>
            <a:off x="822960" y="1463040"/>
            <a:ext cx="5212080" cy="4617720"/>
          </a:xfrm>
          <a:prstGeom prst="rect">
            <a:avLst/>
          </a:prstGeom>
          <a:noFill/>
          <a:ln/>
        </p:spPr>
        <p:txBody>
          <a:bodyPr wrap="square" lIns="0" tIns="0" rIns="0" bIns="0" rtlCol="0" anchor="ctr"/>
          <a:lstStyle/>
          <a:p>
            <a:pPr marL="203200" indent="-203200">
              <a:spcAft>
                <a:spcPts val="600"/>
              </a:spcAft>
              <a:buSzPct val="100000"/>
              <a:buChar char="•"/>
            </a:pPr>
            <a:r>
              <a:rPr lang="en-US" sz="2000" dirty="0">
                <a:solidFill>
                  <a:schemeClr val="tx1"/>
                </a:solidFill>
              </a:rPr>
              <a:t>Implemented a C-based shared-memory communication prototype.</a:t>
            </a:r>
            <a:endParaRPr lang="en-US" sz="2000" dirty="0"/>
          </a:p>
          <a:p>
            <a:pPr marL="203200" indent="-203200">
              <a:spcAft>
                <a:spcPts val="600"/>
              </a:spcAft>
              <a:buSzPct val="100000"/>
              <a:buChar char="•"/>
            </a:pPr>
            <a:r>
              <a:rPr lang="en-US" sz="2000" dirty="0">
                <a:solidFill>
                  <a:schemeClr val="tx1"/>
                </a:solidFill>
              </a:rPr>
              <a:t>Used POSIX shared memory for data exchange.</a:t>
            </a:r>
            <a:endParaRPr lang="en-US" sz="2000" dirty="0"/>
          </a:p>
          <a:p>
            <a:pPr marL="203200" indent="-203200">
              <a:spcAft>
                <a:spcPts val="600"/>
              </a:spcAft>
              <a:buSzPct val="100000"/>
              <a:buChar char="•"/>
            </a:pPr>
            <a:r>
              <a:rPr lang="en-US" sz="2000" dirty="0">
                <a:solidFill>
                  <a:schemeClr val="tx1"/>
                </a:solidFill>
              </a:rPr>
              <a:t>Used process-shared semaphores to coordinate producer and consumer operations.</a:t>
            </a:r>
            <a:endParaRPr lang="en-US" sz="2000" dirty="0"/>
          </a:p>
          <a:p>
            <a:pPr marL="203200" indent="-203200">
              <a:spcAft>
                <a:spcPts val="600"/>
              </a:spcAft>
              <a:buSzPct val="100000"/>
              <a:buChar char="•"/>
            </a:pPr>
            <a:r>
              <a:rPr lang="en-US" sz="2000" dirty="0">
                <a:solidFill>
                  <a:schemeClr val="tx1"/>
                </a:solidFill>
              </a:rPr>
              <a:t>Designed tests for message order, correctness, and normal termination.</a:t>
            </a:r>
            <a:endParaRPr lang="en-US" sz="2000" dirty="0"/>
          </a:p>
          <a:p>
            <a:pPr marL="203200" indent="-203200">
              <a:spcAft>
                <a:spcPts val="600"/>
              </a:spcAft>
              <a:buSzPct val="100000"/>
              <a:buChar char="•"/>
            </a:pPr>
            <a:r>
              <a:rPr lang="en-US" sz="2000" dirty="0">
                <a:solidFill>
                  <a:schemeClr val="tx1"/>
                </a:solidFill>
              </a:rPr>
              <a:t>Established a foundation for future multi-process communication enhancements.</a:t>
            </a:r>
            <a:endParaRPr lang="en-US" sz="2000" dirty="0"/>
          </a:p>
        </p:txBody>
      </p:sp>
      <p:sp>
        <p:nvSpPr>
          <p:cNvPr id="5" name="Text 3"/>
          <p:cNvSpPr txBox="1"/>
          <p:nvPr/>
        </p:nvSpPr>
        <p:spPr>
          <a:xfrm>
            <a:off x="6675120" y="1188720"/>
            <a:ext cx="4937760" cy="914400"/>
          </a:xfrm>
          <a:prstGeom prst="rect">
            <a:avLst/>
          </a:prstGeom>
          <a:noFill/>
          <a:ln/>
        </p:spPr>
        <p:txBody>
          <a:bodyPr wrap="square" lIns="0" tIns="0" rIns="0" bIns="0" rtlCol="0" anchor="ctr"/>
          <a:lstStyle/>
          <a:p>
            <a:pPr marL="0" indent="0">
              <a:buNone/>
            </a:pPr>
            <a:r>
              <a:rPr lang="en-US" sz="5000" b="1" dirty="0">
                <a:solidFill>
                  <a:schemeClr val="accent1"/>
                </a:solidFill>
              </a:rPr>
              <a:t>Thank You</a:t>
            </a:r>
            <a:endParaRPr lang="en-US" sz="5000" dirty="0"/>
          </a:p>
        </p:txBody>
      </p:sp>
      <p:sp>
        <p:nvSpPr>
          <p:cNvPr id="6" name="Teal divider"/>
          <p:cNvSpPr/>
          <p:nvPr/>
        </p:nvSpPr>
        <p:spPr>
          <a:xfrm>
            <a:off x="6675120" y="2240280"/>
            <a:ext cx="4937760" cy="0"/>
          </a:xfrm>
          <a:prstGeom prst="line">
            <a:avLst/>
          </a:prstGeom>
          <a:noFill/>
          <a:ln w="19050">
            <a:solidFill>
              <a:schemeClr val="accent1"/>
            </a:solidFill>
            <a:prstDash val="solid"/>
          </a:ln>
        </p:spPr>
      </p:sp>
      <p:sp>
        <p:nvSpPr>
          <p:cNvPr id="7" name="Text 5"/>
          <p:cNvSpPr txBox="1"/>
          <p:nvPr/>
        </p:nvSpPr>
        <p:spPr>
          <a:xfrm>
            <a:off x="6675120" y="2377440"/>
            <a:ext cx="4937760" cy="548640"/>
          </a:xfrm>
          <a:prstGeom prst="rect">
            <a:avLst/>
          </a:prstGeom>
          <a:noFill/>
          <a:ln/>
        </p:spPr>
        <p:txBody>
          <a:bodyPr wrap="square" lIns="0" tIns="0" rIns="0" bIns="0" rtlCol="0" anchor="ctr"/>
          <a:lstStyle/>
          <a:p>
            <a:pPr marL="0" indent="0">
              <a:buNone/>
            </a:pPr>
            <a:r>
              <a:rPr lang="en-US" sz="2400" dirty="0">
                <a:solidFill>
                  <a:schemeClr val="tx1"/>
                </a:solidFill>
              </a:rPr>
              <a:t>Questions and Answers</a:t>
            </a:r>
            <a:endParaRPr lang="en-US" sz="2400" dirty="0"/>
          </a:p>
        </p:txBody>
      </p:sp>
      <p:sp>
        <p:nvSpPr>
          <p:cNvPr id="8" name="Team details card"/>
          <p:cNvSpPr/>
          <p:nvPr/>
        </p:nvSpPr>
        <p:spPr>
          <a:xfrm>
            <a:off x="6675120" y="3200400"/>
            <a:ext cx="4937760" cy="2103120"/>
          </a:xfrm>
          <a:prstGeom prst="roundRect">
            <a:avLst>
              <a:gd name="adj" fmla="val 4348"/>
            </a:avLst>
          </a:prstGeom>
          <a:solidFill>
            <a:schemeClr val="bg1"/>
          </a:solidFill>
          <a:ln w="9525">
            <a:solidFill>
              <a:srgbClr val="D1D5DB"/>
            </a:solidFill>
            <a:prstDash val="solid"/>
          </a:ln>
          <a:effectLst>
            <a:outerShdw blurRad="76200" dist="25400" dir="5400000" algn="bl" rotWithShape="0">
              <a:srgbClr val="000000">
                <a:alpha val="10000"/>
              </a:srgbClr>
            </a:outerShdw>
          </a:effectLst>
        </p:spPr>
      </p:sp>
      <p:sp>
        <p:nvSpPr>
          <p:cNvPr id="9" name="Text 7"/>
          <p:cNvSpPr txBox="1"/>
          <p:nvPr/>
        </p:nvSpPr>
        <p:spPr>
          <a:xfrm>
            <a:off x="6903720" y="3291840"/>
            <a:ext cx="4480560" cy="1920240"/>
          </a:xfrm>
          <a:prstGeom prst="rect">
            <a:avLst/>
          </a:prstGeom>
          <a:noFill/>
          <a:ln/>
        </p:spPr>
        <p:txBody>
          <a:bodyPr wrap="square" lIns="0" tIns="0" rIns="0" bIns="0" rtlCol="0" anchor="ctr"/>
          <a:lstStyle/>
          <a:p>
            <a:pPr marL="0" indent="0">
              <a:spcAft>
                <a:spcPts val="800"/>
              </a:spcAft>
              <a:buNone/>
            </a:pPr>
            <a:r>
              <a:rPr lang="en-US" sz="1500" b="1" dirty="0">
                <a:solidFill>
                  <a:schemeClr val="accent1"/>
                </a:solidFill>
              </a:rPr>
              <a:t>Team: </a:t>
            </a:r>
            <a:r>
              <a:rPr lang="en-US" sz="1500" dirty="0">
                <a:solidFill>
                  <a:schemeClr val="tx1"/>
                </a:solidFill>
              </a:rPr>
              <a:t>[Team Name]  |  Team No. 11  |  Section 1</a:t>
            </a:r>
            <a:endParaRPr lang="en-US" sz="1500" dirty="0"/>
          </a:p>
          <a:p>
            <a:pPr marL="0" indent="0">
              <a:spcAft>
                <a:spcPts val="800"/>
              </a:spcAft>
              <a:buNone/>
            </a:pPr>
            <a:r>
              <a:rPr lang="en-US" sz="1500" b="1" dirty="0">
                <a:solidFill>
                  <a:schemeClr val="accent1"/>
                </a:solidFill>
              </a:rPr>
              <a:t>Members: </a:t>
            </a:r>
            <a:r>
              <a:rPr lang="en-US" sz="1500" dirty="0">
                <a:solidFill>
                  <a:schemeClr val="tx1"/>
                </a:solidFill>
              </a:rPr>
              <a:t>M. Bala Pranitha, S. Manvi Vaishanvi, D. Rohini Tanmayi</a:t>
            </a:r>
            <a:endParaRPr lang="en-US" sz="1500" dirty="0"/>
          </a:p>
          <a:p>
            <a:pPr marL="0" indent="0">
              <a:spcAft>
                <a:spcPts val="800"/>
              </a:spcAft>
              <a:buNone/>
            </a:pPr>
            <a:r>
              <a:rPr lang="en-US" sz="1500" b="1" dirty="0">
                <a:solidFill>
                  <a:schemeClr val="accent1"/>
                </a:solidFill>
              </a:rPr>
              <a:t>GitHub: </a:t>
            </a:r>
            <a:r>
              <a:rPr lang="en-US" sz="1500" dirty="0">
                <a:solidFill>
                  <a:schemeClr val="tx1"/>
                </a:solidFill>
              </a:rPr>
              <a:t>[https://github.com/your-repo-link]</a:t>
            </a:r>
            <a:endParaRPr lang="en-US" sz="1500" dirty="0"/>
          </a:p>
        </p:txBody>
      </p:sp>
      <p:sp>
        <p:nvSpPr>
          <p:cNvPr id="10" name="Chip"/>
          <p:cNvSpPr/>
          <p:nvPr/>
        </p:nvSpPr>
        <p:spPr>
          <a:xfrm>
            <a:off x="6675120" y="5623560"/>
            <a:ext cx="1325880" cy="502920"/>
          </a:xfrm>
          <a:prstGeom prst="roundRect">
            <a:avLst>
              <a:gd name="adj" fmla="val 14545"/>
            </a:avLst>
          </a:prstGeom>
          <a:solidFill>
            <a:schemeClr val="bg1"/>
          </a:solidFill>
          <a:ln w="12700">
            <a:solidFill>
              <a:srgbClr val="D1D5DB"/>
            </a:solidFill>
            <a:prstDash val="solid"/>
          </a:ln>
        </p:spPr>
      </p:sp>
      <p:sp>
        <p:nvSpPr>
          <p:cNvPr id="11" name="Text 9"/>
          <p:cNvSpPr txBox="1"/>
          <p:nvPr/>
        </p:nvSpPr>
        <p:spPr>
          <a:xfrm>
            <a:off x="6675120" y="5623560"/>
            <a:ext cx="1325880" cy="502920"/>
          </a:xfrm>
          <a:prstGeom prst="rect">
            <a:avLst/>
          </a:prstGeom>
          <a:noFill/>
          <a:ln/>
        </p:spPr>
        <p:txBody>
          <a:bodyPr wrap="square" lIns="25400" tIns="25400" rIns="25400" bIns="25400" rtlCol="0" anchor="ctr"/>
          <a:lstStyle/>
          <a:p>
            <a:pPr marL="0" indent="0" algn="ctr">
              <a:buNone/>
            </a:pPr>
            <a:r>
              <a:rPr lang="en-US" sz="1300" b="1" dirty="0">
                <a:solidFill>
                  <a:schemeClr val="tx1"/>
                </a:solidFill>
              </a:rPr>
              <a:t>Producer</a:t>
            </a:r>
            <a:endParaRPr lang="en-US" sz="1300" dirty="0"/>
          </a:p>
        </p:txBody>
      </p:sp>
      <p:sp>
        <p:nvSpPr>
          <p:cNvPr id="12" name="Chip"/>
          <p:cNvSpPr/>
          <p:nvPr/>
        </p:nvSpPr>
        <p:spPr>
          <a:xfrm>
            <a:off x="8366760" y="5623560"/>
            <a:ext cx="1554480" cy="502920"/>
          </a:xfrm>
          <a:prstGeom prst="roundRect">
            <a:avLst>
              <a:gd name="adj" fmla="val 14545"/>
            </a:avLst>
          </a:prstGeom>
          <a:solidFill>
            <a:schemeClr val="accent2"/>
          </a:solidFill>
          <a:ln w="12700">
            <a:solidFill>
              <a:schemeClr val="accent1"/>
            </a:solidFill>
            <a:prstDash val="solid"/>
          </a:ln>
        </p:spPr>
      </p:sp>
      <p:sp>
        <p:nvSpPr>
          <p:cNvPr id="13" name="Text 11"/>
          <p:cNvSpPr txBox="1"/>
          <p:nvPr/>
        </p:nvSpPr>
        <p:spPr>
          <a:xfrm>
            <a:off x="8366760" y="5623560"/>
            <a:ext cx="1554480" cy="502920"/>
          </a:xfrm>
          <a:prstGeom prst="rect">
            <a:avLst/>
          </a:prstGeom>
          <a:noFill/>
          <a:ln/>
        </p:spPr>
        <p:txBody>
          <a:bodyPr wrap="square" lIns="25400" tIns="25400" rIns="25400" bIns="25400" rtlCol="0" anchor="ctr"/>
          <a:lstStyle/>
          <a:p>
            <a:pPr marL="0" indent="0" algn="ctr">
              <a:buNone/>
            </a:pPr>
            <a:r>
              <a:rPr lang="en-US" sz="1300" b="1" dirty="0">
                <a:solidFill>
                  <a:schemeClr val="tx1"/>
                </a:solidFill>
              </a:rPr>
              <a:t>Shared Memory</a:t>
            </a:r>
            <a:endParaRPr lang="en-US" sz="1300" dirty="0"/>
          </a:p>
        </p:txBody>
      </p:sp>
      <p:sp>
        <p:nvSpPr>
          <p:cNvPr id="14" name="Chip"/>
          <p:cNvSpPr/>
          <p:nvPr/>
        </p:nvSpPr>
        <p:spPr>
          <a:xfrm>
            <a:off x="10287000" y="5623560"/>
            <a:ext cx="1325880" cy="502920"/>
          </a:xfrm>
          <a:prstGeom prst="roundRect">
            <a:avLst>
              <a:gd name="adj" fmla="val 14545"/>
            </a:avLst>
          </a:prstGeom>
          <a:solidFill>
            <a:schemeClr val="bg1"/>
          </a:solidFill>
          <a:ln w="12700">
            <a:solidFill>
              <a:srgbClr val="D1D5DB"/>
            </a:solidFill>
            <a:prstDash val="solid"/>
          </a:ln>
        </p:spPr>
      </p:sp>
      <p:sp>
        <p:nvSpPr>
          <p:cNvPr id="15" name="Text 13"/>
          <p:cNvSpPr txBox="1"/>
          <p:nvPr/>
        </p:nvSpPr>
        <p:spPr>
          <a:xfrm>
            <a:off x="10287000" y="5623560"/>
            <a:ext cx="1325880" cy="502920"/>
          </a:xfrm>
          <a:prstGeom prst="rect">
            <a:avLst/>
          </a:prstGeom>
          <a:noFill/>
          <a:ln/>
        </p:spPr>
        <p:txBody>
          <a:bodyPr wrap="square" lIns="25400" tIns="25400" rIns="25400" bIns="25400" rtlCol="0" anchor="ctr"/>
          <a:lstStyle/>
          <a:p>
            <a:pPr marL="0" indent="0" algn="ctr">
              <a:buNone/>
            </a:pPr>
            <a:r>
              <a:rPr lang="en-US" sz="1300" b="1" dirty="0">
                <a:solidFill>
                  <a:schemeClr val="tx1"/>
                </a:solidFill>
              </a:rPr>
              <a:t>Consumer</a:t>
            </a:r>
            <a:endParaRPr lang="en-US" sz="1300" dirty="0"/>
          </a:p>
        </p:txBody>
      </p:sp>
      <p:sp>
        <p:nvSpPr>
          <p:cNvPr id="16" name="Arrow"/>
          <p:cNvSpPr/>
          <p:nvPr/>
        </p:nvSpPr>
        <p:spPr>
          <a:xfrm>
            <a:off x="8046720" y="5870448"/>
            <a:ext cx="283464" cy="0"/>
          </a:xfrm>
          <a:prstGeom prst="line">
            <a:avLst/>
          </a:prstGeom>
          <a:noFill/>
          <a:ln w="19050">
            <a:solidFill>
              <a:schemeClr val="accent1"/>
            </a:solidFill>
            <a:prstDash val="solid"/>
            <a:headEnd type="triangle"/>
            <a:tailEnd type="triangle"/>
          </a:ln>
        </p:spPr>
      </p:sp>
      <p:sp>
        <p:nvSpPr>
          <p:cNvPr id="17" name="Arrow"/>
          <p:cNvSpPr/>
          <p:nvPr/>
        </p:nvSpPr>
        <p:spPr>
          <a:xfrm>
            <a:off x="9966960" y="5870448"/>
            <a:ext cx="283464" cy="0"/>
          </a:xfrm>
          <a:prstGeom prst="line">
            <a:avLst/>
          </a:prstGeom>
          <a:noFill/>
          <a:ln w="19050">
            <a:solidFill>
              <a:schemeClr val="accent1"/>
            </a:solidFill>
            <a:prstDash val="solid"/>
            <a:headEnd type="triangle"/>
            <a:tailEnd type="triangle"/>
          </a:ln>
        </p:spPr>
      </p:sp>
      <p:sp>
        <p:nvSpPr>
          <p:cNvPr id="25" name="Slide Number Placeholder 0"/>
          <p:cNvSpPr>
            <a:spLocks noGrp="1"/>
          </p:cNvSpPr>
          <p:nvPr>
            <p:ph type="sldNum" sz="quarter" idx="4294967295"/>
          </p:nvPr>
        </p:nvSpPr>
        <p:spPr>
          <a:xfrm>
            <a:off x="10881360" y="6419088"/>
            <a:ext cx="75895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10</a:t>
            </a:fld>
            <a:endParaRPr lang="en-US"/>
          </a:p>
        </p:txBody>
      </p:sp>
    </p:spTree>
  </p:cSld>
  <p:clrMapOvr>
    <a:masterClrMapping/>
  </p:clrMapOvr>
</p:sld>
</file>

<file path=ppt/theme/theme1.xml><?xml version="1.0" encoding="utf-8"?>
<a:theme xmlns:a="http://schemas.openxmlformats.org/drawingml/2006/main" name="Light Gray Teal Systems">
  <a:themeElements>
    <a:clrScheme name="Light Gray Teal Systems">
      <a:dk1>
        <a:srgbClr val="1F2937"/>
      </a:dk1>
      <a:lt1>
        <a:srgbClr val="FFFFFF"/>
      </a:lt1>
      <a:dk2>
        <a:srgbClr val="4B5563"/>
      </a:dk2>
      <a:lt2>
        <a:srgbClr val="F3F4F6"/>
      </a:lt2>
      <a:accent1>
        <a:srgbClr val="0F766E"/>
      </a:accent1>
      <a:accent2>
        <a:srgbClr val="CCFBF1"/>
      </a:accent2>
      <a:accent3>
        <a:srgbClr val="15803D"/>
      </a:accent3>
      <a:accent4>
        <a:srgbClr val="D1D5DB"/>
      </a:accent4>
      <a:accent5>
        <a:srgbClr val="99F6E4"/>
      </a:accent5>
      <a:accent6>
        <a:srgbClr val="9CA3AF"/>
      </a:accent6>
      <a:hlink>
        <a:srgbClr val="0F766E"/>
      </a:hlink>
      <a:folHlink>
        <a:srgbClr val="4B5563"/>
      </a:folHlink>
    </a:clrScheme>
    <a:fontScheme name="Light Gray Teal System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1405</Words>
  <Application>Microsoft Office PowerPoint</Application>
  <PresentationFormat>Widescreen</PresentationFormat>
  <Paragraphs>218</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Consolas</vt:lpstr>
      <vt:lpstr>Light Gray Teal Systems</vt:lpstr>
      <vt:lpstr>PowerPoint Presentation</vt:lpstr>
      <vt:lpstr>Problem Statement</vt:lpstr>
      <vt:lpstr>Project Objectives</vt:lpstr>
      <vt:lpstr>System Architecture</vt:lpstr>
      <vt:lpstr>Technologies and Tools</vt:lpstr>
      <vt:lpstr>Implementation Approach</vt:lpstr>
      <vt:lpstr>Maintaining Data Consistency</vt:lpstr>
      <vt:lpstr>Testing, Validation and Results</vt:lpstr>
      <vt:lpstr>Applications and Future Enhancements</vt:lpstr>
      <vt:lpstr>Conclusion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Shared Memory Based Data Exchange System</dc:title>
  <dc:subject>PptxGenJS Presentation</dc:subject>
  <dc:creator>PptxGenJS</dc:creator>
  <cp:lastModifiedBy>Pranitha M</cp:lastModifiedBy>
  <cp:revision>2</cp:revision>
  <dcterms:created xsi:type="dcterms:W3CDTF">2026-10-16T13:19:43Z</dcterms:created>
  <dcterms:modified xsi:type="dcterms:W3CDTF">2026-10-16T13:21:55Z</dcterms:modified>
</cp:coreProperties>
</file>